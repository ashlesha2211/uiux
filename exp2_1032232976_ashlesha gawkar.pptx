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Waffle Soft" charset="1" panose="02000503000000020004"/>
      <p:regular r:id="rId18"/>
    </p:embeddedFont>
    <p:embeddedFont>
      <p:font typeface="Helvetica World Bold" charset="1" panose="020B0800040000020004"/>
      <p:regular r:id="rId19"/>
    </p:embeddedFont>
    <p:embeddedFont>
      <p:font typeface="Helvetica World" charset="1" panose="020B050004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058298" y="-5068543"/>
            <a:ext cx="8041181" cy="6875210"/>
          </a:xfrm>
          <a:custGeom>
            <a:avLst/>
            <a:gdLst/>
            <a:ahLst/>
            <a:cxnLst/>
            <a:rect r="r" b="b" t="t" l="l"/>
            <a:pathLst>
              <a:path h="6875210" w="8041181">
                <a:moveTo>
                  <a:pt x="0" y="0"/>
                </a:moveTo>
                <a:lnTo>
                  <a:pt x="8041181" y="0"/>
                </a:lnTo>
                <a:lnTo>
                  <a:pt x="8041181" y="6875210"/>
                </a:lnTo>
                <a:lnTo>
                  <a:pt x="0" y="6875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7955" y="7694883"/>
            <a:ext cx="2421048" cy="2383853"/>
          </a:xfrm>
          <a:custGeom>
            <a:avLst/>
            <a:gdLst/>
            <a:ahLst/>
            <a:cxnLst/>
            <a:rect r="r" b="b" t="t" l="l"/>
            <a:pathLst>
              <a:path h="2383853" w="2421048">
                <a:moveTo>
                  <a:pt x="0" y="0"/>
                </a:moveTo>
                <a:lnTo>
                  <a:pt x="2421047" y="0"/>
                </a:lnTo>
                <a:lnTo>
                  <a:pt x="2421047" y="2383853"/>
                </a:lnTo>
                <a:lnTo>
                  <a:pt x="0" y="2383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941817" y="5003133"/>
            <a:ext cx="595585" cy="6352904"/>
          </a:xfrm>
          <a:custGeom>
            <a:avLst/>
            <a:gdLst/>
            <a:ahLst/>
            <a:cxnLst/>
            <a:rect r="r" b="b" t="t" l="l"/>
            <a:pathLst>
              <a:path h="6352904" w="595585">
                <a:moveTo>
                  <a:pt x="0" y="0"/>
                </a:moveTo>
                <a:lnTo>
                  <a:pt x="595585" y="0"/>
                </a:lnTo>
                <a:lnTo>
                  <a:pt x="595585" y="6352904"/>
                </a:lnTo>
                <a:lnTo>
                  <a:pt x="0" y="6352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215365" y="185998"/>
            <a:ext cx="3182696" cy="2790309"/>
          </a:xfrm>
          <a:custGeom>
            <a:avLst/>
            <a:gdLst/>
            <a:ahLst/>
            <a:cxnLst/>
            <a:rect r="r" b="b" t="t" l="l"/>
            <a:pathLst>
              <a:path h="2790309" w="3182696">
                <a:moveTo>
                  <a:pt x="0" y="0"/>
                </a:moveTo>
                <a:lnTo>
                  <a:pt x="3182697" y="0"/>
                </a:lnTo>
                <a:lnTo>
                  <a:pt x="3182697" y="2790309"/>
                </a:lnTo>
                <a:lnTo>
                  <a:pt x="0" y="2790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6882" y="3223769"/>
            <a:ext cx="7947118" cy="305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9"/>
              </a:lnSpc>
            </a:pPr>
            <a:r>
              <a:rPr lang="en-US" b="true" sz="5536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USER PERSONA FOR THE OWASP FOUNDATION WEBSITE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06714" y="6274897"/>
            <a:ext cx="6585439" cy="1093059"/>
            <a:chOff x="0" y="0"/>
            <a:chExt cx="1734437" cy="2878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4437" cy="287884"/>
            </a:xfrm>
            <a:custGeom>
              <a:avLst/>
              <a:gdLst/>
              <a:ahLst/>
              <a:cxnLst/>
              <a:rect r="r" b="b" t="t" l="l"/>
              <a:pathLst>
                <a:path h="287884" w="1734437">
                  <a:moveTo>
                    <a:pt x="59515" y="0"/>
                  </a:moveTo>
                  <a:lnTo>
                    <a:pt x="1674921" y="0"/>
                  </a:lnTo>
                  <a:cubicBezTo>
                    <a:pt x="1690706" y="0"/>
                    <a:pt x="1705844" y="6270"/>
                    <a:pt x="1717005" y="17432"/>
                  </a:cubicBezTo>
                  <a:cubicBezTo>
                    <a:pt x="1728166" y="28593"/>
                    <a:pt x="1734437" y="43731"/>
                    <a:pt x="1734437" y="59515"/>
                  </a:cubicBezTo>
                  <a:lnTo>
                    <a:pt x="1734437" y="228368"/>
                  </a:lnTo>
                  <a:cubicBezTo>
                    <a:pt x="1734437" y="244153"/>
                    <a:pt x="1728166" y="259291"/>
                    <a:pt x="1717005" y="270452"/>
                  </a:cubicBezTo>
                  <a:cubicBezTo>
                    <a:pt x="1705844" y="281613"/>
                    <a:pt x="1690706" y="287884"/>
                    <a:pt x="1674921" y="287884"/>
                  </a:cubicBezTo>
                  <a:lnTo>
                    <a:pt x="59515" y="287884"/>
                  </a:lnTo>
                  <a:cubicBezTo>
                    <a:pt x="43731" y="287884"/>
                    <a:pt x="28593" y="281613"/>
                    <a:pt x="17432" y="270452"/>
                  </a:cubicBezTo>
                  <a:cubicBezTo>
                    <a:pt x="6270" y="259291"/>
                    <a:pt x="0" y="244153"/>
                    <a:pt x="0" y="228368"/>
                  </a:cubicBezTo>
                  <a:lnTo>
                    <a:pt x="0" y="59515"/>
                  </a:lnTo>
                  <a:cubicBezTo>
                    <a:pt x="0" y="43731"/>
                    <a:pt x="6270" y="28593"/>
                    <a:pt x="17432" y="17432"/>
                  </a:cubicBezTo>
                  <a:cubicBezTo>
                    <a:pt x="28593" y="6270"/>
                    <a:pt x="43731" y="0"/>
                    <a:pt x="59515" y="0"/>
                  </a:cubicBezTo>
                  <a:close/>
                </a:path>
              </a:pathLst>
            </a:custGeom>
            <a:solidFill>
              <a:srgbClr val="D5E8F8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734437" cy="29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49681" y="6543143"/>
            <a:ext cx="6098076" cy="53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0"/>
              </a:lnSpc>
              <a:spcBef>
                <a:spcPct val="0"/>
              </a:spcBef>
            </a:pPr>
            <a:r>
              <a:rPr lang="en-US" b="true" sz="2907" spc="-4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UX Research &amp; Interface Analysis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-4081833" y="5940452"/>
            <a:ext cx="5379308" cy="4727458"/>
          </a:xfrm>
          <a:custGeom>
            <a:avLst/>
            <a:gdLst/>
            <a:ahLst/>
            <a:cxnLst/>
            <a:rect r="r" b="b" t="t" l="l"/>
            <a:pathLst>
              <a:path h="4727458" w="5379308">
                <a:moveTo>
                  <a:pt x="0" y="0"/>
                </a:moveTo>
                <a:lnTo>
                  <a:pt x="5379308" y="0"/>
                </a:lnTo>
                <a:lnTo>
                  <a:pt x="5379308" y="4727458"/>
                </a:lnTo>
                <a:lnTo>
                  <a:pt x="0" y="47274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583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9220902" y="2389653"/>
            <a:ext cx="0" cy="6492240"/>
          </a:xfrm>
          <a:prstGeom prst="line">
            <a:avLst/>
          </a:prstGeom>
          <a:ln cap="flat" w="38100">
            <a:solidFill>
              <a:srgbClr val="0B1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118743" y="2750370"/>
            <a:ext cx="4698595" cy="5672144"/>
            <a:chOff x="0" y="0"/>
            <a:chExt cx="6350000" cy="7665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7665720"/>
            </a:xfrm>
            <a:custGeom>
              <a:avLst/>
              <a:gdLst/>
              <a:ahLst/>
              <a:cxnLst/>
              <a:rect r="r" b="b" t="t" l="l"/>
              <a:pathLst>
                <a:path h="7665720" w="635000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72219" y="384782"/>
              <a:ext cx="5643663" cy="5618536"/>
            </a:xfrm>
            <a:custGeom>
              <a:avLst/>
              <a:gdLst/>
              <a:ahLst/>
              <a:cxnLst/>
              <a:rect r="r" b="b" t="t" l="l"/>
              <a:pathLst>
                <a:path h="5618536" w="5643663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7"/>
              <a:stretch>
                <a:fillRect l="-27" t="0" r="-27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802508" y="915551"/>
            <a:ext cx="689487" cy="673474"/>
          </a:xfrm>
          <a:custGeom>
            <a:avLst/>
            <a:gdLst/>
            <a:ahLst/>
            <a:cxnLst/>
            <a:rect r="r" b="b" t="t" l="l"/>
            <a:pathLst>
              <a:path h="673474" w="689487">
                <a:moveTo>
                  <a:pt x="0" y="0"/>
                </a:moveTo>
                <a:lnTo>
                  <a:pt x="689487" y="0"/>
                </a:lnTo>
                <a:lnTo>
                  <a:pt x="689487" y="673474"/>
                </a:lnTo>
                <a:lnTo>
                  <a:pt x="0" y="6734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318880" y="1623590"/>
            <a:ext cx="5058761" cy="2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84"/>
              </a:lnSpc>
            </a:pPr>
            <a:r>
              <a:rPr lang="en-US" b="true" sz="1747" spc="-26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Ashlesha Gawkar</a:t>
            </a:r>
            <a:r>
              <a:rPr lang="en-US" b="true" sz="1747" spc="-26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|1032232976 | 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4823" y="8579937"/>
            <a:ext cx="1884342" cy="678363"/>
          </a:xfrm>
          <a:custGeom>
            <a:avLst/>
            <a:gdLst/>
            <a:ahLst/>
            <a:cxnLst/>
            <a:rect r="r" b="b" t="t" l="l"/>
            <a:pathLst>
              <a:path h="678363" w="1884342">
                <a:moveTo>
                  <a:pt x="0" y="0"/>
                </a:moveTo>
                <a:lnTo>
                  <a:pt x="1884342" y="0"/>
                </a:lnTo>
                <a:lnTo>
                  <a:pt x="1884342" y="678363"/>
                </a:lnTo>
                <a:lnTo>
                  <a:pt x="0" y="678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465894" y="-4239493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62449" y="8188237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749160" y="1019175"/>
            <a:ext cx="3790498" cy="3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</a:pPr>
            <a:r>
              <a:rPr lang="en-US" b="true" sz="191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01053" y="2288746"/>
            <a:ext cx="11285893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Table of Contents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14720" y="1019175"/>
            <a:ext cx="3790498" cy="3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</a:pPr>
            <a:r>
              <a:rPr lang="en-US" b="true" sz="191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05150" y="4155105"/>
            <a:ext cx="4245403" cy="681530"/>
            <a:chOff x="0" y="0"/>
            <a:chExt cx="1118131" cy="1794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8131" cy="179498"/>
            </a:xfrm>
            <a:custGeom>
              <a:avLst/>
              <a:gdLst/>
              <a:ahLst/>
              <a:cxnLst/>
              <a:rect r="r" b="b" t="t" l="l"/>
              <a:pathLst>
                <a:path h="179498" w="1118131">
                  <a:moveTo>
                    <a:pt x="89749" y="0"/>
                  </a:moveTo>
                  <a:lnTo>
                    <a:pt x="1028382" y="0"/>
                  </a:lnTo>
                  <a:cubicBezTo>
                    <a:pt x="1052185" y="0"/>
                    <a:pt x="1075013" y="9456"/>
                    <a:pt x="1091844" y="26287"/>
                  </a:cubicBezTo>
                  <a:cubicBezTo>
                    <a:pt x="1108675" y="43118"/>
                    <a:pt x="1118131" y="65946"/>
                    <a:pt x="1118131" y="89749"/>
                  </a:cubicBezTo>
                  <a:lnTo>
                    <a:pt x="1118131" y="89749"/>
                  </a:lnTo>
                  <a:cubicBezTo>
                    <a:pt x="1118131" y="113552"/>
                    <a:pt x="1108675" y="136380"/>
                    <a:pt x="1091844" y="153211"/>
                  </a:cubicBezTo>
                  <a:cubicBezTo>
                    <a:pt x="1075013" y="170042"/>
                    <a:pt x="1052185" y="179498"/>
                    <a:pt x="1028382" y="179498"/>
                  </a:cubicBezTo>
                  <a:lnTo>
                    <a:pt x="89749" y="179498"/>
                  </a:lnTo>
                  <a:cubicBezTo>
                    <a:pt x="65946" y="179498"/>
                    <a:pt x="43118" y="170042"/>
                    <a:pt x="26287" y="153211"/>
                  </a:cubicBezTo>
                  <a:cubicBezTo>
                    <a:pt x="9456" y="136380"/>
                    <a:pt x="0" y="113552"/>
                    <a:pt x="0" y="89749"/>
                  </a:cubicBezTo>
                  <a:lnTo>
                    <a:pt x="0" y="89749"/>
                  </a:lnTo>
                  <a:cubicBezTo>
                    <a:pt x="0" y="65946"/>
                    <a:pt x="9456" y="43118"/>
                    <a:pt x="26287" y="26287"/>
                  </a:cubicBezTo>
                  <a:cubicBezTo>
                    <a:pt x="43118" y="9456"/>
                    <a:pt x="65946" y="0"/>
                    <a:pt x="89749" y="0"/>
                  </a:cubicBezTo>
                  <a:close/>
                </a:path>
              </a:pathLst>
            </a:custGeom>
            <a:solidFill>
              <a:srgbClr val="365679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18131" cy="18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455874" y="4257110"/>
            <a:ext cx="3790498" cy="41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</a:pPr>
            <a:r>
              <a:rPr lang="en-US" b="true" sz="2402" spc="-36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About OWASP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205150" y="5249319"/>
            <a:ext cx="4245403" cy="681530"/>
            <a:chOff x="0" y="0"/>
            <a:chExt cx="1118131" cy="1794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8131" cy="179498"/>
            </a:xfrm>
            <a:custGeom>
              <a:avLst/>
              <a:gdLst/>
              <a:ahLst/>
              <a:cxnLst/>
              <a:rect r="r" b="b" t="t" l="l"/>
              <a:pathLst>
                <a:path h="179498" w="1118131">
                  <a:moveTo>
                    <a:pt x="89749" y="0"/>
                  </a:moveTo>
                  <a:lnTo>
                    <a:pt x="1028382" y="0"/>
                  </a:lnTo>
                  <a:cubicBezTo>
                    <a:pt x="1052185" y="0"/>
                    <a:pt x="1075013" y="9456"/>
                    <a:pt x="1091844" y="26287"/>
                  </a:cubicBezTo>
                  <a:cubicBezTo>
                    <a:pt x="1108675" y="43118"/>
                    <a:pt x="1118131" y="65946"/>
                    <a:pt x="1118131" y="89749"/>
                  </a:cubicBezTo>
                  <a:lnTo>
                    <a:pt x="1118131" y="89749"/>
                  </a:lnTo>
                  <a:cubicBezTo>
                    <a:pt x="1118131" y="113552"/>
                    <a:pt x="1108675" y="136380"/>
                    <a:pt x="1091844" y="153211"/>
                  </a:cubicBezTo>
                  <a:cubicBezTo>
                    <a:pt x="1075013" y="170042"/>
                    <a:pt x="1052185" y="179498"/>
                    <a:pt x="1028382" y="179498"/>
                  </a:cubicBezTo>
                  <a:lnTo>
                    <a:pt x="89749" y="179498"/>
                  </a:lnTo>
                  <a:cubicBezTo>
                    <a:pt x="65946" y="179498"/>
                    <a:pt x="43118" y="170042"/>
                    <a:pt x="26287" y="153211"/>
                  </a:cubicBezTo>
                  <a:cubicBezTo>
                    <a:pt x="9456" y="136380"/>
                    <a:pt x="0" y="113552"/>
                    <a:pt x="0" y="89749"/>
                  </a:cubicBezTo>
                  <a:lnTo>
                    <a:pt x="0" y="89749"/>
                  </a:lnTo>
                  <a:cubicBezTo>
                    <a:pt x="0" y="65946"/>
                    <a:pt x="9456" y="43118"/>
                    <a:pt x="26287" y="26287"/>
                  </a:cubicBezTo>
                  <a:cubicBezTo>
                    <a:pt x="43118" y="9456"/>
                    <a:pt x="65946" y="0"/>
                    <a:pt x="89749" y="0"/>
                  </a:cubicBezTo>
                  <a:close/>
                </a:path>
              </a:pathLst>
            </a:custGeom>
            <a:solidFill>
              <a:srgbClr val="365679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118131" cy="18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455874" y="5351324"/>
            <a:ext cx="3790498" cy="41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</a:pPr>
            <a:r>
              <a:rPr lang="en-US" b="true" sz="2402" spc="-36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User Persona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205150" y="6343532"/>
            <a:ext cx="4245403" cy="681530"/>
            <a:chOff x="0" y="0"/>
            <a:chExt cx="1118131" cy="1794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8131" cy="179498"/>
            </a:xfrm>
            <a:custGeom>
              <a:avLst/>
              <a:gdLst/>
              <a:ahLst/>
              <a:cxnLst/>
              <a:rect r="r" b="b" t="t" l="l"/>
              <a:pathLst>
                <a:path h="179498" w="1118131">
                  <a:moveTo>
                    <a:pt x="89749" y="0"/>
                  </a:moveTo>
                  <a:lnTo>
                    <a:pt x="1028382" y="0"/>
                  </a:lnTo>
                  <a:cubicBezTo>
                    <a:pt x="1052185" y="0"/>
                    <a:pt x="1075013" y="9456"/>
                    <a:pt x="1091844" y="26287"/>
                  </a:cubicBezTo>
                  <a:cubicBezTo>
                    <a:pt x="1108675" y="43118"/>
                    <a:pt x="1118131" y="65946"/>
                    <a:pt x="1118131" y="89749"/>
                  </a:cubicBezTo>
                  <a:lnTo>
                    <a:pt x="1118131" y="89749"/>
                  </a:lnTo>
                  <a:cubicBezTo>
                    <a:pt x="1118131" y="113552"/>
                    <a:pt x="1108675" y="136380"/>
                    <a:pt x="1091844" y="153211"/>
                  </a:cubicBezTo>
                  <a:cubicBezTo>
                    <a:pt x="1075013" y="170042"/>
                    <a:pt x="1052185" y="179498"/>
                    <a:pt x="1028382" y="179498"/>
                  </a:cubicBezTo>
                  <a:lnTo>
                    <a:pt x="89749" y="179498"/>
                  </a:lnTo>
                  <a:cubicBezTo>
                    <a:pt x="65946" y="179498"/>
                    <a:pt x="43118" y="170042"/>
                    <a:pt x="26287" y="153211"/>
                  </a:cubicBezTo>
                  <a:cubicBezTo>
                    <a:pt x="9456" y="136380"/>
                    <a:pt x="0" y="113552"/>
                    <a:pt x="0" y="89749"/>
                  </a:cubicBezTo>
                  <a:lnTo>
                    <a:pt x="0" y="89749"/>
                  </a:lnTo>
                  <a:cubicBezTo>
                    <a:pt x="0" y="65946"/>
                    <a:pt x="9456" y="43118"/>
                    <a:pt x="26287" y="26287"/>
                  </a:cubicBezTo>
                  <a:cubicBezTo>
                    <a:pt x="43118" y="9456"/>
                    <a:pt x="65946" y="0"/>
                    <a:pt x="89749" y="0"/>
                  </a:cubicBezTo>
                  <a:close/>
                </a:path>
              </a:pathLst>
            </a:custGeom>
            <a:solidFill>
              <a:srgbClr val="365679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18131" cy="18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455874" y="6445537"/>
            <a:ext cx="3790498" cy="41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</a:pPr>
            <a:r>
              <a:rPr lang="en-US" b="true" sz="2402" spc="-36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Goals &amp; Motivations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16893" y="4155105"/>
            <a:ext cx="4245403" cy="681530"/>
            <a:chOff x="0" y="0"/>
            <a:chExt cx="1118131" cy="1794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18131" cy="179498"/>
            </a:xfrm>
            <a:custGeom>
              <a:avLst/>
              <a:gdLst/>
              <a:ahLst/>
              <a:cxnLst/>
              <a:rect r="r" b="b" t="t" l="l"/>
              <a:pathLst>
                <a:path h="179498" w="1118131">
                  <a:moveTo>
                    <a:pt x="89749" y="0"/>
                  </a:moveTo>
                  <a:lnTo>
                    <a:pt x="1028382" y="0"/>
                  </a:lnTo>
                  <a:cubicBezTo>
                    <a:pt x="1052185" y="0"/>
                    <a:pt x="1075013" y="9456"/>
                    <a:pt x="1091844" y="26287"/>
                  </a:cubicBezTo>
                  <a:cubicBezTo>
                    <a:pt x="1108675" y="43118"/>
                    <a:pt x="1118131" y="65946"/>
                    <a:pt x="1118131" y="89749"/>
                  </a:cubicBezTo>
                  <a:lnTo>
                    <a:pt x="1118131" y="89749"/>
                  </a:lnTo>
                  <a:cubicBezTo>
                    <a:pt x="1118131" y="113552"/>
                    <a:pt x="1108675" y="136380"/>
                    <a:pt x="1091844" y="153211"/>
                  </a:cubicBezTo>
                  <a:cubicBezTo>
                    <a:pt x="1075013" y="170042"/>
                    <a:pt x="1052185" y="179498"/>
                    <a:pt x="1028382" y="179498"/>
                  </a:cubicBezTo>
                  <a:lnTo>
                    <a:pt x="89749" y="179498"/>
                  </a:lnTo>
                  <a:cubicBezTo>
                    <a:pt x="65946" y="179498"/>
                    <a:pt x="43118" y="170042"/>
                    <a:pt x="26287" y="153211"/>
                  </a:cubicBezTo>
                  <a:cubicBezTo>
                    <a:pt x="9456" y="136380"/>
                    <a:pt x="0" y="113552"/>
                    <a:pt x="0" y="89749"/>
                  </a:cubicBezTo>
                  <a:lnTo>
                    <a:pt x="0" y="89749"/>
                  </a:lnTo>
                  <a:cubicBezTo>
                    <a:pt x="0" y="65946"/>
                    <a:pt x="9456" y="43118"/>
                    <a:pt x="26287" y="26287"/>
                  </a:cubicBezTo>
                  <a:cubicBezTo>
                    <a:pt x="43118" y="9456"/>
                    <a:pt x="65946" y="0"/>
                    <a:pt x="89749" y="0"/>
                  </a:cubicBezTo>
                  <a:close/>
                </a:path>
              </a:pathLst>
            </a:custGeom>
            <a:solidFill>
              <a:srgbClr val="365679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118131" cy="18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967616" y="4257110"/>
            <a:ext cx="3790498" cy="41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</a:pPr>
            <a:r>
              <a:rPr lang="en-US" b="true" sz="2402" spc="-36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Pain Points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740164" y="5249319"/>
            <a:ext cx="4245403" cy="681530"/>
            <a:chOff x="0" y="0"/>
            <a:chExt cx="1118131" cy="1794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8131" cy="179498"/>
            </a:xfrm>
            <a:custGeom>
              <a:avLst/>
              <a:gdLst/>
              <a:ahLst/>
              <a:cxnLst/>
              <a:rect r="r" b="b" t="t" l="l"/>
              <a:pathLst>
                <a:path h="179498" w="1118131">
                  <a:moveTo>
                    <a:pt x="89749" y="0"/>
                  </a:moveTo>
                  <a:lnTo>
                    <a:pt x="1028382" y="0"/>
                  </a:lnTo>
                  <a:cubicBezTo>
                    <a:pt x="1052185" y="0"/>
                    <a:pt x="1075013" y="9456"/>
                    <a:pt x="1091844" y="26287"/>
                  </a:cubicBezTo>
                  <a:cubicBezTo>
                    <a:pt x="1108675" y="43118"/>
                    <a:pt x="1118131" y="65946"/>
                    <a:pt x="1118131" y="89749"/>
                  </a:cubicBezTo>
                  <a:lnTo>
                    <a:pt x="1118131" y="89749"/>
                  </a:lnTo>
                  <a:cubicBezTo>
                    <a:pt x="1118131" y="113552"/>
                    <a:pt x="1108675" y="136380"/>
                    <a:pt x="1091844" y="153211"/>
                  </a:cubicBezTo>
                  <a:cubicBezTo>
                    <a:pt x="1075013" y="170042"/>
                    <a:pt x="1052185" y="179498"/>
                    <a:pt x="1028382" y="179498"/>
                  </a:cubicBezTo>
                  <a:lnTo>
                    <a:pt x="89749" y="179498"/>
                  </a:lnTo>
                  <a:cubicBezTo>
                    <a:pt x="65946" y="179498"/>
                    <a:pt x="43118" y="170042"/>
                    <a:pt x="26287" y="153211"/>
                  </a:cubicBezTo>
                  <a:cubicBezTo>
                    <a:pt x="9456" y="136380"/>
                    <a:pt x="0" y="113552"/>
                    <a:pt x="0" y="89749"/>
                  </a:cubicBezTo>
                  <a:lnTo>
                    <a:pt x="0" y="89749"/>
                  </a:lnTo>
                  <a:cubicBezTo>
                    <a:pt x="0" y="65946"/>
                    <a:pt x="9456" y="43118"/>
                    <a:pt x="26287" y="26287"/>
                  </a:cubicBezTo>
                  <a:cubicBezTo>
                    <a:pt x="43118" y="9456"/>
                    <a:pt x="65946" y="0"/>
                    <a:pt x="89749" y="0"/>
                  </a:cubicBezTo>
                  <a:close/>
                </a:path>
              </a:pathLst>
            </a:custGeom>
            <a:solidFill>
              <a:srgbClr val="365679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118131" cy="18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90887" y="5351324"/>
            <a:ext cx="3790498" cy="41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</a:pPr>
            <a:r>
              <a:rPr lang="en-US" b="true" sz="2402" spc="-36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User Journey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763435" y="6340424"/>
            <a:ext cx="4245403" cy="681530"/>
            <a:chOff x="0" y="0"/>
            <a:chExt cx="1118131" cy="17949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8131" cy="179498"/>
            </a:xfrm>
            <a:custGeom>
              <a:avLst/>
              <a:gdLst/>
              <a:ahLst/>
              <a:cxnLst/>
              <a:rect r="r" b="b" t="t" l="l"/>
              <a:pathLst>
                <a:path h="179498" w="1118131">
                  <a:moveTo>
                    <a:pt x="89749" y="0"/>
                  </a:moveTo>
                  <a:lnTo>
                    <a:pt x="1028382" y="0"/>
                  </a:lnTo>
                  <a:cubicBezTo>
                    <a:pt x="1052185" y="0"/>
                    <a:pt x="1075013" y="9456"/>
                    <a:pt x="1091844" y="26287"/>
                  </a:cubicBezTo>
                  <a:cubicBezTo>
                    <a:pt x="1108675" y="43118"/>
                    <a:pt x="1118131" y="65946"/>
                    <a:pt x="1118131" y="89749"/>
                  </a:cubicBezTo>
                  <a:lnTo>
                    <a:pt x="1118131" y="89749"/>
                  </a:lnTo>
                  <a:cubicBezTo>
                    <a:pt x="1118131" y="113552"/>
                    <a:pt x="1108675" y="136380"/>
                    <a:pt x="1091844" y="153211"/>
                  </a:cubicBezTo>
                  <a:cubicBezTo>
                    <a:pt x="1075013" y="170042"/>
                    <a:pt x="1052185" y="179498"/>
                    <a:pt x="1028382" y="179498"/>
                  </a:cubicBezTo>
                  <a:lnTo>
                    <a:pt x="89749" y="179498"/>
                  </a:lnTo>
                  <a:cubicBezTo>
                    <a:pt x="65946" y="179498"/>
                    <a:pt x="43118" y="170042"/>
                    <a:pt x="26287" y="153211"/>
                  </a:cubicBezTo>
                  <a:cubicBezTo>
                    <a:pt x="9456" y="136380"/>
                    <a:pt x="0" y="113552"/>
                    <a:pt x="0" y="89749"/>
                  </a:cubicBezTo>
                  <a:lnTo>
                    <a:pt x="0" y="89749"/>
                  </a:lnTo>
                  <a:cubicBezTo>
                    <a:pt x="0" y="65946"/>
                    <a:pt x="9456" y="43118"/>
                    <a:pt x="26287" y="26287"/>
                  </a:cubicBezTo>
                  <a:cubicBezTo>
                    <a:pt x="43118" y="9456"/>
                    <a:pt x="65946" y="0"/>
                    <a:pt x="89749" y="0"/>
                  </a:cubicBezTo>
                  <a:close/>
                </a:path>
              </a:pathLst>
            </a:custGeom>
            <a:solidFill>
              <a:srgbClr val="365679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118131" cy="189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14158" y="6442429"/>
            <a:ext cx="3790498" cy="41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</a:pPr>
            <a:r>
              <a:rPr lang="en-US" b="true" sz="2402" spc="-36">
                <a:solidFill>
                  <a:srgbClr val="F3F6F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Design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4823" y="8579937"/>
            <a:ext cx="1884342" cy="678363"/>
          </a:xfrm>
          <a:custGeom>
            <a:avLst/>
            <a:gdLst/>
            <a:ahLst/>
            <a:cxnLst/>
            <a:rect r="r" b="b" t="t" l="l"/>
            <a:pathLst>
              <a:path h="678363" w="1884342">
                <a:moveTo>
                  <a:pt x="0" y="0"/>
                </a:moveTo>
                <a:lnTo>
                  <a:pt x="1884342" y="0"/>
                </a:lnTo>
                <a:lnTo>
                  <a:pt x="1884342" y="678363"/>
                </a:lnTo>
                <a:lnTo>
                  <a:pt x="0" y="678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465894" y="-4239493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62449" y="8188237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749160" y="1019175"/>
            <a:ext cx="3790498" cy="2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9"/>
              </a:lnSpc>
            </a:pPr>
            <a:r>
              <a:rPr lang="en-US" b="true" sz="1543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03081" y="4045787"/>
            <a:ext cx="10652428" cy="388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OWASP (Open Worldwide Application Security Project) is a global nonprofit organization dedicated to improving software security. Its website serves as a central hub for cybersecurity resources, tools, and community support.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Website Purpose: Provide free, open-access cybersecurity documentation, guides, and frameworks to help developers and security professionals build secure software.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 Audiences: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Students — Learning application security fundamentals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Developers — Building secure applications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Security Engineers — Implementing security best practices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Researchers — Contributing to security knowledge</a:t>
            </a:r>
          </a:p>
          <a:p>
            <a:pPr algn="just" marL="0" indent="0" lvl="0">
              <a:lnSpc>
                <a:spcPts val="2819"/>
              </a:lnSpc>
            </a:pPr>
            <a:r>
              <a:rPr lang="en-US" sz="2255" spc="9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Organizations — Adopting security standards and frameworks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37898" y="2477605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About OWASP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14720" y="1019175"/>
            <a:ext cx="3790498" cy="2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9"/>
              </a:lnSpc>
            </a:pPr>
            <a:r>
              <a:rPr lang="en-US" b="true" sz="1543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4823" y="8579937"/>
            <a:ext cx="1884342" cy="678363"/>
          </a:xfrm>
          <a:custGeom>
            <a:avLst/>
            <a:gdLst/>
            <a:ahLst/>
            <a:cxnLst/>
            <a:rect r="r" b="b" t="t" l="l"/>
            <a:pathLst>
              <a:path h="678363" w="1884342">
                <a:moveTo>
                  <a:pt x="0" y="0"/>
                </a:moveTo>
                <a:lnTo>
                  <a:pt x="1884342" y="0"/>
                </a:lnTo>
                <a:lnTo>
                  <a:pt x="1884342" y="678363"/>
                </a:lnTo>
                <a:lnTo>
                  <a:pt x="0" y="678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465894" y="-4239493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62449" y="8188237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3835769" y="832161"/>
            <a:ext cx="4958617" cy="9513248"/>
            <a:chOff x="0" y="0"/>
            <a:chExt cx="1305973" cy="2505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5973" cy="2505547"/>
            </a:xfrm>
            <a:custGeom>
              <a:avLst/>
              <a:gdLst/>
              <a:ahLst/>
              <a:cxnLst/>
              <a:rect r="r" b="b" t="t" l="l"/>
              <a:pathLst>
                <a:path h="2505547" w="1305973">
                  <a:moveTo>
                    <a:pt x="31226" y="0"/>
                  </a:moveTo>
                  <a:lnTo>
                    <a:pt x="1274747" y="0"/>
                  </a:lnTo>
                  <a:cubicBezTo>
                    <a:pt x="1283029" y="0"/>
                    <a:pt x="1290971" y="3290"/>
                    <a:pt x="1296827" y="9146"/>
                  </a:cubicBezTo>
                  <a:cubicBezTo>
                    <a:pt x="1302683" y="15002"/>
                    <a:pt x="1305973" y="22944"/>
                    <a:pt x="1305973" y="31226"/>
                  </a:cubicBezTo>
                  <a:lnTo>
                    <a:pt x="1305973" y="2474321"/>
                  </a:lnTo>
                  <a:cubicBezTo>
                    <a:pt x="1305973" y="2491567"/>
                    <a:pt x="1291993" y="2505547"/>
                    <a:pt x="1274747" y="2505547"/>
                  </a:cubicBezTo>
                  <a:lnTo>
                    <a:pt x="31226" y="2505547"/>
                  </a:lnTo>
                  <a:cubicBezTo>
                    <a:pt x="22944" y="2505547"/>
                    <a:pt x="15002" y="2502257"/>
                    <a:pt x="9146" y="2496401"/>
                  </a:cubicBezTo>
                  <a:cubicBezTo>
                    <a:pt x="3290" y="2490545"/>
                    <a:pt x="0" y="2482603"/>
                    <a:pt x="0" y="2474321"/>
                  </a:cubicBezTo>
                  <a:lnTo>
                    <a:pt x="0" y="31226"/>
                  </a:lnTo>
                  <a:cubicBezTo>
                    <a:pt x="0" y="22944"/>
                    <a:pt x="3290" y="15002"/>
                    <a:pt x="9146" y="9146"/>
                  </a:cubicBezTo>
                  <a:cubicBezTo>
                    <a:pt x="15002" y="3290"/>
                    <a:pt x="22944" y="0"/>
                    <a:pt x="31226" y="0"/>
                  </a:cubicBezTo>
                  <a:close/>
                </a:path>
              </a:pathLst>
            </a:custGeom>
            <a:ln w="57150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305973" cy="2515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1416513" y="3248644"/>
            <a:ext cx="3876973" cy="4680281"/>
            <a:chOff x="0" y="0"/>
            <a:chExt cx="6350000" cy="7665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7665720"/>
            </a:xfrm>
            <a:custGeom>
              <a:avLst/>
              <a:gdLst/>
              <a:ahLst/>
              <a:cxnLst/>
              <a:rect r="r" b="b" t="t" l="l"/>
              <a:pathLst>
                <a:path h="7665720" w="635000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72219" y="384782"/>
              <a:ext cx="5643663" cy="5618536"/>
            </a:xfrm>
            <a:custGeom>
              <a:avLst/>
              <a:gdLst/>
              <a:ahLst/>
              <a:cxnLst/>
              <a:rect r="r" b="b" t="t" l="l"/>
              <a:pathLst>
                <a:path h="5618536" w="5643663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10"/>
              <a:stretch>
                <a:fillRect l="-27" t="0" r="-27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414720" y="1019175"/>
            <a:ext cx="3790498" cy="3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</a:pPr>
            <a:r>
              <a:rPr lang="en-US" b="true" sz="191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89972" y="1019175"/>
            <a:ext cx="3790498" cy="3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</a:pPr>
            <a:r>
              <a:rPr lang="en-US" b="true" sz="191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38976" y="3367616"/>
            <a:ext cx="8562358" cy="437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👤  Aarav Sharma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🎓  Age: 21  |  Final-Year B.Tech Computer Science Student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📍  Location: Pune, India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💼  Occupation: Student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💻  Technical Level: Intermediate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📱  Devices: Laptop &amp; Mobile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🌐  Website Usage: Weekly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"I want quick access to cybersecurity documentation without searching through multiple event pages."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37898" y="1788371"/>
            <a:ext cx="9412204" cy="101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8"/>
              </a:lnSpc>
            </a:pPr>
            <a:r>
              <a:rPr lang="en-US" b="true" sz="6447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Primary User Persona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04976" y="7697293"/>
            <a:ext cx="2491161" cy="2255633"/>
          </a:xfrm>
          <a:custGeom>
            <a:avLst/>
            <a:gdLst/>
            <a:ahLst/>
            <a:cxnLst/>
            <a:rect r="r" b="b" t="t" l="l"/>
            <a:pathLst>
              <a:path h="2255633" w="2491161">
                <a:moveTo>
                  <a:pt x="0" y="0"/>
                </a:moveTo>
                <a:lnTo>
                  <a:pt x="2491161" y="0"/>
                </a:lnTo>
                <a:lnTo>
                  <a:pt x="2491161" y="2255633"/>
                </a:lnTo>
                <a:lnTo>
                  <a:pt x="0" y="2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14720" y="1009650"/>
            <a:ext cx="3790498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3"/>
              </a:lnSpc>
            </a:pPr>
            <a:r>
              <a:rPr lang="en-US" b="true" sz="187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Salford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9972" y="1009650"/>
            <a:ext cx="3790498" cy="33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3"/>
              </a:lnSpc>
            </a:pPr>
            <a:r>
              <a:rPr lang="en-US" b="true" sz="187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Communication Science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2567" y="3440505"/>
            <a:ext cx="6979802" cy="213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🎯 Goals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Learn application security fundamentals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Study the OWASP Top 10 vulnerabilities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Access Cheat Sheets for secure coding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Prepare for cybersecurity interviews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2567" y="5843534"/>
            <a:ext cx="6979802" cy="213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Complete university assignments effectively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Improve secure coding skills and practices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Explore OWASP projects and resources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Build a strong cybersecurity knowledge 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5320" y="3555534"/>
            <a:ext cx="6979802" cy="213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💡 Motivations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Career Growth — Build a strong foundation for a cybersecurity career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Academic Success — Excel in university coursework and projects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5320" y="5958563"/>
            <a:ext cx="6979802" cy="17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Skill Development — Continuously improve technical and security skills</a:t>
            </a:r>
          </a:p>
          <a:p>
            <a:pPr algn="just" marL="0" indent="0" lvl="0">
              <a:lnSpc>
                <a:spcPts val="3424"/>
              </a:lnSpc>
            </a:pPr>
            <a:r>
              <a:rPr lang="en-US" sz="2739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Industry Readiness — Stay aligned with real-world security standards and practices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37898" y="1769321"/>
            <a:ext cx="9412204" cy="111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73"/>
              </a:lnSpc>
            </a:pPr>
            <a:r>
              <a:rPr lang="en-US" b="true" sz="7018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Goals &amp; Motivations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528713" y="2313202"/>
            <a:ext cx="4585520" cy="7585547"/>
            <a:chOff x="0" y="0"/>
            <a:chExt cx="1207709" cy="199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763430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366" y="8579937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19175"/>
            <a:ext cx="3790498" cy="3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</a:pPr>
            <a:r>
              <a:rPr lang="en-US" b="true" sz="191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89972" y="1019175"/>
            <a:ext cx="3790498" cy="32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3"/>
              </a:lnSpc>
            </a:pPr>
            <a:r>
              <a:rPr lang="en-US" b="true" sz="1915" spc="-2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Analysis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73767" y="2313202"/>
            <a:ext cx="4585520" cy="7585547"/>
            <a:chOff x="0" y="0"/>
            <a:chExt cx="1207709" cy="1997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63934" y="4133665"/>
            <a:ext cx="6315078" cy="262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Documentation is difficult to find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Homepage prioritizes conferences over learning resources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Search bar is not easily visible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Navigation changes across project pages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08988" y="4133665"/>
            <a:ext cx="6315078" cy="2620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Excessive scrolling required to reach content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Limited accessibility features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Confusing layout for first-time users</a:t>
            </a:r>
          </a:p>
          <a:p>
            <a:pPr algn="just" marL="0" indent="0" lvl="0">
              <a:lnSpc>
                <a:spcPts val="3497"/>
              </a:lnSpc>
            </a:pPr>
            <a:r>
              <a:rPr lang="en-US" sz="2798" spc="11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No role-based entry points for students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37898" y="2151688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Pain Points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206980" y="1489105"/>
            <a:ext cx="6342751" cy="8355237"/>
            <a:chOff x="0" y="0"/>
            <a:chExt cx="1670519" cy="22005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70519" cy="2200556"/>
            </a:xfrm>
            <a:custGeom>
              <a:avLst/>
              <a:gdLst/>
              <a:ahLst/>
              <a:cxnLst/>
              <a:rect r="r" b="b" t="t" l="l"/>
              <a:pathLst>
                <a:path h="2200556" w="1670519">
                  <a:moveTo>
                    <a:pt x="24412" y="0"/>
                  </a:moveTo>
                  <a:lnTo>
                    <a:pt x="1646107" y="0"/>
                  </a:lnTo>
                  <a:cubicBezTo>
                    <a:pt x="1652581" y="0"/>
                    <a:pt x="1658791" y="2572"/>
                    <a:pt x="1663369" y="7150"/>
                  </a:cubicBezTo>
                  <a:cubicBezTo>
                    <a:pt x="1667947" y="11728"/>
                    <a:pt x="1670519" y="17937"/>
                    <a:pt x="1670519" y="24412"/>
                  </a:cubicBezTo>
                  <a:lnTo>
                    <a:pt x="1670519" y="2176144"/>
                  </a:lnTo>
                  <a:cubicBezTo>
                    <a:pt x="1670519" y="2182619"/>
                    <a:pt x="1667947" y="2188828"/>
                    <a:pt x="1663369" y="2193406"/>
                  </a:cubicBezTo>
                  <a:cubicBezTo>
                    <a:pt x="1658791" y="2197984"/>
                    <a:pt x="1652581" y="2200556"/>
                    <a:pt x="1646107" y="2200556"/>
                  </a:cubicBezTo>
                  <a:lnTo>
                    <a:pt x="24412" y="2200556"/>
                  </a:lnTo>
                  <a:cubicBezTo>
                    <a:pt x="17937" y="2200556"/>
                    <a:pt x="11728" y="2197984"/>
                    <a:pt x="7150" y="2193406"/>
                  </a:cubicBezTo>
                  <a:cubicBezTo>
                    <a:pt x="2572" y="2188828"/>
                    <a:pt x="0" y="2182619"/>
                    <a:pt x="0" y="2176144"/>
                  </a:cubicBezTo>
                  <a:lnTo>
                    <a:pt x="0" y="24412"/>
                  </a:lnTo>
                  <a:cubicBezTo>
                    <a:pt x="0" y="17937"/>
                    <a:pt x="2572" y="11728"/>
                    <a:pt x="7150" y="7150"/>
                  </a:cubicBezTo>
                  <a:cubicBezTo>
                    <a:pt x="11728" y="2572"/>
                    <a:pt x="17937" y="0"/>
                    <a:pt x="24412" y="0"/>
                  </a:cubicBezTo>
                  <a:close/>
                </a:path>
              </a:pathLst>
            </a:custGeom>
            <a:ln w="57150" cap="sq">
              <a:solidFill>
                <a:srgbClr val="0B13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670519" cy="2210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349" y="8838099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0" y="0"/>
                </a:moveTo>
                <a:lnTo>
                  <a:pt x="3096743" y="0"/>
                </a:lnTo>
                <a:lnTo>
                  <a:pt x="3096743" y="1114827"/>
                </a:lnTo>
                <a:lnTo>
                  <a:pt x="0" y="1114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4364146" y="711644"/>
            <a:ext cx="3096742" cy="1114827"/>
          </a:xfrm>
          <a:custGeom>
            <a:avLst/>
            <a:gdLst/>
            <a:ahLst/>
            <a:cxnLst/>
            <a:rect r="r" b="b" t="t" l="l"/>
            <a:pathLst>
              <a:path h="1114827" w="3096742">
                <a:moveTo>
                  <a:pt x="3096742" y="0"/>
                </a:moveTo>
                <a:lnTo>
                  <a:pt x="0" y="0"/>
                </a:lnTo>
                <a:lnTo>
                  <a:pt x="0" y="1114827"/>
                </a:lnTo>
                <a:lnTo>
                  <a:pt x="3096742" y="1114827"/>
                </a:lnTo>
                <a:lnTo>
                  <a:pt x="30967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28700"/>
            <a:ext cx="3790498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0"/>
              </a:lnSpc>
            </a:pPr>
            <a:r>
              <a:rPr lang="en-US" b="true" sz="1200" spc="-1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89972" y="1028700"/>
            <a:ext cx="3790498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0"/>
              </a:lnSpc>
            </a:pPr>
            <a:r>
              <a:rPr lang="en-US" b="true" sz="1200" spc="-18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Interface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63566" y="2655099"/>
            <a:ext cx="7090521" cy="61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① Visits OWASP Website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Action: Opens homepage to find security resources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Emotion: Hopeful but overwhelmed by event banners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Opportunity: Redesign homepage with clear resource entry points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② Searches for OWASP Top 10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Action: Looks for search bar — hard to locate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Emotion: Confused and frustrated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Opportunity: Add a prominent, visible search bar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③ Scrolls Through Promotional Content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Action: Navigates past conference &amp; event promotions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Emotion: Impatient; learning content feels buried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Opportunity: Prioritize documentation over promotions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④ Finds Documentation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Action: Eventually locates Top 10 via deep scroll or links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Emotion: Relieved but effort was excessive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Opportunity: Surface key docs on landing page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⑤ Learns Security Concepts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Action: Reads and studies OWASP Top 10 for assignment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Emotion: Satisfied, but journey was unnecessarily long</a:t>
            </a:r>
          </a:p>
          <a:p>
            <a:pPr algn="just" marL="0" indent="0" lvl="0">
              <a:lnSpc>
                <a:spcPts val="2333"/>
              </a:lnSpc>
            </a:pPr>
            <a:r>
              <a:rPr lang="en-US" sz="1866" spc="7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→ Opportunity: Introduce role-based paths (Student / Developer)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5974" y="4257345"/>
            <a:ext cx="6303853" cy="242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38"/>
              </a:lnSpc>
            </a:pPr>
            <a:r>
              <a:rPr lang="en-US" b="true" sz="7631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User Journey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63430" y="7206948"/>
            <a:ext cx="3032708" cy="2745979"/>
          </a:xfrm>
          <a:custGeom>
            <a:avLst/>
            <a:gdLst/>
            <a:ahLst/>
            <a:cxnLst/>
            <a:rect r="r" b="b" t="t" l="l"/>
            <a:pathLst>
              <a:path h="2745979" w="3032708">
                <a:moveTo>
                  <a:pt x="0" y="0"/>
                </a:moveTo>
                <a:lnTo>
                  <a:pt x="3032707" y="0"/>
                </a:lnTo>
                <a:lnTo>
                  <a:pt x="3032707" y="2745978"/>
                </a:lnTo>
                <a:lnTo>
                  <a:pt x="0" y="274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65106" y="704739"/>
            <a:ext cx="3247119" cy="2243464"/>
          </a:xfrm>
          <a:custGeom>
            <a:avLst/>
            <a:gdLst/>
            <a:ahLst/>
            <a:cxnLst/>
            <a:rect r="r" b="b" t="t" l="l"/>
            <a:pathLst>
              <a:path h="2243464" w="3247119">
                <a:moveTo>
                  <a:pt x="0" y="0"/>
                </a:moveTo>
                <a:lnTo>
                  <a:pt x="3247119" y="0"/>
                </a:lnTo>
                <a:lnTo>
                  <a:pt x="3247119" y="2243464"/>
                </a:lnTo>
                <a:lnTo>
                  <a:pt x="0" y="224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4823" y="8579937"/>
            <a:ext cx="1884342" cy="678363"/>
          </a:xfrm>
          <a:custGeom>
            <a:avLst/>
            <a:gdLst/>
            <a:ahLst/>
            <a:cxnLst/>
            <a:rect r="r" b="b" t="t" l="l"/>
            <a:pathLst>
              <a:path h="678363" w="1884342">
                <a:moveTo>
                  <a:pt x="0" y="0"/>
                </a:moveTo>
                <a:lnTo>
                  <a:pt x="1884342" y="0"/>
                </a:lnTo>
                <a:lnTo>
                  <a:pt x="1884342" y="678363"/>
                </a:lnTo>
                <a:lnTo>
                  <a:pt x="0" y="678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465894" y="-4239493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1062449" y="8188237"/>
            <a:ext cx="6607870" cy="6367584"/>
          </a:xfrm>
          <a:custGeom>
            <a:avLst/>
            <a:gdLst/>
            <a:ahLst/>
            <a:cxnLst/>
            <a:rect r="r" b="b" t="t" l="l"/>
            <a:pathLst>
              <a:path h="6367584" w="6607870">
                <a:moveTo>
                  <a:pt x="0" y="0"/>
                </a:moveTo>
                <a:lnTo>
                  <a:pt x="6607870" y="0"/>
                </a:lnTo>
                <a:lnTo>
                  <a:pt x="6607870" y="6367584"/>
                </a:lnTo>
                <a:lnTo>
                  <a:pt x="0" y="63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2403411" y="5035761"/>
            <a:ext cx="2726902" cy="3291916"/>
            <a:chOff x="0" y="0"/>
            <a:chExt cx="6350000" cy="7665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7665720"/>
            </a:xfrm>
            <a:custGeom>
              <a:avLst/>
              <a:gdLst/>
              <a:ahLst/>
              <a:cxnLst/>
              <a:rect r="r" b="b" t="t" l="l"/>
              <a:pathLst>
                <a:path h="7665720" w="635000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002C4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72219" y="384782"/>
              <a:ext cx="5643663" cy="5618536"/>
            </a:xfrm>
            <a:custGeom>
              <a:avLst/>
              <a:gdLst/>
              <a:ahLst/>
              <a:cxnLst/>
              <a:rect r="r" b="b" t="t" l="l"/>
              <a:pathLst>
                <a:path h="5618536" w="5643663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10"/>
              <a:stretch>
                <a:fillRect l="-27" t="0" r="-27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7491365" y="5035761"/>
            <a:ext cx="2726902" cy="3291916"/>
            <a:chOff x="0" y="0"/>
            <a:chExt cx="6350000" cy="7665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7665720"/>
            </a:xfrm>
            <a:custGeom>
              <a:avLst/>
              <a:gdLst/>
              <a:ahLst/>
              <a:cxnLst/>
              <a:rect r="r" b="b" t="t" l="l"/>
              <a:pathLst>
                <a:path h="7665720" w="635000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002C4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72219" y="384782"/>
              <a:ext cx="5643663" cy="5618536"/>
            </a:xfrm>
            <a:custGeom>
              <a:avLst/>
              <a:gdLst/>
              <a:ahLst/>
              <a:cxnLst/>
              <a:rect r="r" b="b" t="t" l="l"/>
              <a:pathLst>
                <a:path h="5618536" w="5643663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11"/>
              <a:stretch>
                <a:fillRect l="-27" t="0" r="-27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1983695" y="5035761"/>
            <a:ext cx="2726902" cy="3291916"/>
            <a:chOff x="0" y="0"/>
            <a:chExt cx="6350000" cy="7665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7665720"/>
            </a:xfrm>
            <a:custGeom>
              <a:avLst/>
              <a:gdLst/>
              <a:ahLst/>
              <a:cxnLst/>
              <a:rect r="r" b="b" t="t" l="l"/>
              <a:pathLst>
                <a:path h="7665720" w="635000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002C4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72219" y="384782"/>
              <a:ext cx="5643663" cy="5618536"/>
            </a:xfrm>
            <a:custGeom>
              <a:avLst/>
              <a:gdLst/>
              <a:ahLst/>
              <a:cxnLst/>
              <a:rect r="r" b="b" t="t" l="l"/>
              <a:pathLst>
                <a:path h="5618536" w="5643663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12"/>
              <a:stretch>
                <a:fillRect l="-27" t="0" r="-27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414720" y="1019175"/>
            <a:ext cx="3790498" cy="23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9"/>
              </a:lnSpc>
            </a:pPr>
            <a:r>
              <a:rPr lang="en-US" b="true" sz="1423" spc="-21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89972" y="1019175"/>
            <a:ext cx="3790498" cy="23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9"/>
              </a:lnSpc>
            </a:pPr>
            <a:r>
              <a:rPr lang="en-US" b="true" sz="1423" spc="-21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91053" y="3377141"/>
            <a:ext cx="14105895" cy="128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9"/>
              </a:lnSpc>
            </a:pPr>
            <a:r>
              <a:rPr lang="en-US" sz="2079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Traits: Curious • Analytical • Self-learner • Goal-oriented • Tech-savvy</a:t>
            </a:r>
          </a:p>
          <a:p>
            <a:pPr algn="ctr" marL="0" indent="0" lvl="0">
              <a:lnSpc>
                <a:spcPts val="2599"/>
              </a:lnSpc>
            </a:pPr>
            <a:r>
              <a:rPr lang="en-US" sz="2079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"I want quick access to cybersecurity documentation without searching through multiple event pages."</a:t>
            </a:r>
          </a:p>
          <a:p>
            <a:pPr algn="ctr" marL="0" indent="0" lvl="0">
              <a:lnSpc>
                <a:spcPts val="2599"/>
              </a:lnSpc>
            </a:pPr>
            <a:r>
              <a:rPr lang="en-US" sz="2079" spc="8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Scenario: A final-year student visits OWASP to study the Top 10 for an assignment but struggles to locate documentation due to promotional content overshadowing learning resources.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37898" y="1788371"/>
            <a:ext cx="9412204" cy="97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2"/>
              </a:lnSpc>
            </a:pPr>
            <a:r>
              <a:rPr lang="en-US" b="true" sz="6202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Personality &amp; Scenario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34515" y="7059159"/>
            <a:ext cx="3104560" cy="3056663"/>
          </a:xfrm>
          <a:custGeom>
            <a:avLst/>
            <a:gdLst/>
            <a:ahLst/>
            <a:cxnLst/>
            <a:rect r="r" b="b" t="t" l="l"/>
            <a:pathLst>
              <a:path h="3056663" w="3104560">
                <a:moveTo>
                  <a:pt x="0" y="0"/>
                </a:moveTo>
                <a:lnTo>
                  <a:pt x="3104559" y="0"/>
                </a:lnTo>
                <a:lnTo>
                  <a:pt x="3104559" y="3056663"/>
                </a:lnTo>
                <a:lnTo>
                  <a:pt x="0" y="3056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2528713" y="2313202"/>
            <a:ext cx="4585520" cy="7585547"/>
            <a:chOff x="0" y="0"/>
            <a:chExt cx="1207709" cy="19978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-146630" y="490342"/>
            <a:ext cx="3982458" cy="2742918"/>
          </a:xfrm>
          <a:custGeom>
            <a:avLst/>
            <a:gdLst/>
            <a:ahLst/>
            <a:cxnLst/>
            <a:rect r="r" b="b" t="t" l="l"/>
            <a:pathLst>
              <a:path h="2742918" w="3982458">
                <a:moveTo>
                  <a:pt x="0" y="0"/>
                </a:moveTo>
                <a:lnTo>
                  <a:pt x="3982458" y="0"/>
                </a:lnTo>
                <a:lnTo>
                  <a:pt x="3982458" y="2742918"/>
                </a:lnTo>
                <a:lnTo>
                  <a:pt x="0" y="2742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16960" y="654860"/>
            <a:ext cx="3199092" cy="1243647"/>
          </a:xfrm>
          <a:custGeom>
            <a:avLst/>
            <a:gdLst/>
            <a:ahLst/>
            <a:cxnLst/>
            <a:rect r="r" b="b" t="t" l="l"/>
            <a:pathLst>
              <a:path h="1243647" w="3199092">
                <a:moveTo>
                  <a:pt x="0" y="0"/>
                </a:moveTo>
                <a:lnTo>
                  <a:pt x="3199092" y="0"/>
                </a:lnTo>
                <a:lnTo>
                  <a:pt x="3199092" y="1243647"/>
                </a:lnTo>
                <a:lnTo>
                  <a:pt x="0" y="124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6058" y="7745277"/>
            <a:ext cx="3120563" cy="2779662"/>
          </a:xfrm>
          <a:custGeom>
            <a:avLst/>
            <a:gdLst/>
            <a:ahLst/>
            <a:cxnLst/>
            <a:rect r="r" b="b" t="t" l="l"/>
            <a:pathLst>
              <a:path h="2779662" w="3120563">
                <a:moveTo>
                  <a:pt x="0" y="0"/>
                </a:moveTo>
                <a:lnTo>
                  <a:pt x="3120563" y="0"/>
                </a:lnTo>
                <a:lnTo>
                  <a:pt x="3120563" y="2779661"/>
                </a:lnTo>
                <a:lnTo>
                  <a:pt x="0" y="2779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14720" y="1028700"/>
            <a:ext cx="3790498" cy="25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5"/>
              </a:lnSpc>
            </a:pPr>
            <a:r>
              <a:rPr lang="en-US" b="true" sz="1564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89972" y="1028700"/>
            <a:ext cx="3790498" cy="25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5"/>
              </a:lnSpc>
            </a:pPr>
            <a:r>
              <a:rPr lang="en-US" b="true" sz="1564" spc="-23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Analysis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11173767" y="2313202"/>
            <a:ext cx="4585520" cy="7585547"/>
            <a:chOff x="0" y="0"/>
            <a:chExt cx="1207709" cy="19978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709" cy="1997839"/>
            </a:xfrm>
            <a:custGeom>
              <a:avLst/>
              <a:gdLst/>
              <a:ahLst/>
              <a:cxnLst/>
              <a:rect r="r" b="b" t="t" l="l"/>
              <a:pathLst>
                <a:path h="1997839" w="1207709">
                  <a:moveTo>
                    <a:pt x="32078" y="0"/>
                  </a:moveTo>
                  <a:lnTo>
                    <a:pt x="1175631" y="0"/>
                  </a:lnTo>
                  <a:cubicBezTo>
                    <a:pt x="1193347" y="0"/>
                    <a:pt x="1207709" y="14362"/>
                    <a:pt x="1207709" y="32078"/>
                  </a:cubicBezTo>
                  <a:lnTo>
                    <a:pt x="1207709" y="1965761"/>
                  </a:lnTo>
                  <a:cubicBezTo>
                    <a:pt x="1207709" y="1974269"/>
                    <a:pt x="1204329" y="1982428"/>
                    <a:pt x="1198313" y="1988444"/>
                  </a:cubicBezTo>
                  <a:cubicBezTo>
                    <a:pt x="1192298" y="1994460"/>
                    <a:pt x="1184138" y="1997839"/>
                    <a:pt x="1175631" y="1997839"/>
                  </a:cubicBezTo>
                  <a:lnTo>
                    <a:pt x="32078" y="1997839"/>
                  </a:lnTo>
                  <a:cubicBezTo>
                    <a:pt x="23571" y="1997839"/>
                    <a:pt x="15411" y="1994460"/>
                    <a:pt x="9396" y="1988444"/>
                  </a:cubicBezTo>
                  <a:cubicBezTo>
                    <a:pt x="3380" y="1982428"/>
                    <a:pt x="0" y="1974269"/>
                    <a:pt x="0" y="1965761"/>
                  </a:cubicBezTo>
                  <a:lnTo>
                    <a:pt x="0" y="32078"/>
                  </a:lnTo>
                  <a:cubicBezTo>
                    <a:pt x="0" y="23571"/>
                    <a:pt x="3380" y="15411"/>
                    <a:pt x="9396" y="9396"/>
                  </a:cubicBezTo>
                  <a:cubicBezTo>
                    <a:pt x="15411" y="3380"/>
                    <a:pt x="23571" y="0"/>
                    <a:pt x="32078" y="0"/>
                  </a:cubicBez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07709" cy="2007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63934" y="4124140"/>
            <a:ext cx="6315078" cy="362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 STRENGTHS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★ Highly credible and trusted organization in the global cybersecurity community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★ Excellent, in-depth technical documentation covering key security topics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★ Strong and active developer &amp; security community worldwide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★ Free and open-access resources for all users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★ Comprehensive OWASP Top 10 and Cheat Sheet Series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08988" y="4124140"/>
            <a:ext cx="6315078" cy="398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⚠ WEAKNESSES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✗ Poor visual hierarchy — promotions overshadow learning resources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✗ Documentation buried below conference and event content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✗ Weak discoverability — search bar not prominently visible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✗ Inconsistent navigation across different OWASP project pages</a:t>
            </a:r>
          </a:p>
          <a:p>
            <a:pPr algn="just" marL="0" indent="0" lvl="0">
              <a:lnSpc>
                <a:spcPts val="2856"/>
              </a:lnSpc>
            </a:pPr>
            <a:r>
              <a:rPr lang="en-US" sz="2285" spc="9">
                <a:solidFill>
                  <a:srgbClr val="F3F6F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✗ No role-based experience for Students, Developers, or Organizations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37898" y="2151688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UX Insights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81887" y="7581305"/>
            <a:ext cx="2550839" cy="2503011"/>
          </a:xfrm>
          <a:custGeom>
            <a:avLst/>
            <a:gdLst/>
            <a:ahLst/>
            <a:cxnLst/>
            <a:rect r="r" b="b" t="t" l="l"/>
            <a:pathLst>
              <a:path h="2503011" w="2550839">
                <a:moveTo>
                  <a:pt x="0" y="0"/>
                </a:moveTo>
                <a:lnTo>
                  <a:pt x="2550838" y="0"/>
                </a:lnTo>
                <a:lnTo>
                  <a:pt x="2550838" y="2503011"/>
                </a:lnTo>
                <a:lnTo>
                  <a:pt x="0" y="2503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9431" y="116573"/>
            <a:ext cx="3771403" cy="3431309"/>
          </a:xfrm>
          <a:custGeom>
            <a:avLst/>
            <a:gdLst/>
            <a:ahLst/>
            <a:cxnLst/>
            <a:rect r="r" b="b" t="t" l="l"/>
            <a:pathLst>
              <a:path h="3431309" w="3771403">
                <a:moveTo>
                  <a:pt x="0" y="0"/>
                </a:moveTo>
                <a:lnTo>
                  <a:pt x="3771403" y="0"/>
                </a:lnTo>
                <a:lnTo>
                  <a:pt x="3771403" y="3431308"/>
                </a:lnTo>
                <a:lnTo>
                  <a:pt x="0" y="3431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1163" y="440915"/>
            <a:ext cx="3190826" cy="1601495"/>
          </a:xfrm>
          <a:custGeom>
            <a:avLst/>
            <a:gdLst/>
            <a:ahLst/>
            <a:cxnLst/>
            <a:rect r="r" b="b" t="t" l="l"/>
            <a:pathLst>
              <a:path h="1601495" w="3190826">
                <a:moveTo>
                  <a:pt x="0" y="0"/>
                </a:moveTo>
                <a:lnTo>
                  <a:pt x="3190825" y="0"/>
                </a:lnTo>
                <a:lnTo>
                  <a:pt x="3190825" y="1601495"/>
                </a:lnTo>
                <a:lnTo>
                  <a:pt x="0" y="1601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3715" y="8576067"/>
            <a:ext cx="3596217" cy="1137304"/>
          </a:xfrm>
          <a:custGeom>
            <a:avLst/>
            <a:gdLst/>
            <a:ahLst/>
            <a:cxnLst/>
            <a:rect r="r" b="b" t="t" l="l"/>
            <a:pathLst>
              <a:path h="1137304" w="3596217">
                <a:moveTo>
                  <a:pt x="0" y="0"/>
                </a:moveTo>
                <a:lnTo>
                  <a:pt x="3596217" y="0"/>
                </a:lnTo>
                <a:lnTo>
                  <a:pt x="3596217" y="1137303"/>
                </a:lnTo>
                <a:lnTo>
                  <a:pt x="0" y="11373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14720" y="1028700"/>
            <a:ext cx="3790498" cy="28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3"/>
              </a:lnSpc>
            </a:pPr>
            <a:r>
              <a:rPr lang="en-US" b="true" sz="171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Salford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9972" y="1028700"/>
            <a:ext cx="3790498" cy="28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43"/>
              </a:lnSpc>
            </a:pPr>
            <a:r>
              <a:rPr lang="en-US" b="true" sz="1714" spc="-25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Communication Science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2567" y="3440505"/>
            <a:ext cx="6979802" cy="194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🏠  Prioritize Learning Resources on Homepage</a:t>
            </a:r>
          </a:p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Move OWASP Top 10 and Cheat Sheets to a prominent position on the homepage, reducing promotional content that overshadows critical documentation for students and developers.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2567" y="5843534"/>
            <a:ext cx="6979802" cy="194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🔍  Add a Prominent Search Bar</a:t>
            </a:r>
          </a:p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Introduce a highly visible, intelligent search feature at the top of every page to help users quickly locate documentation, guides, and project pages without excessive scrolling.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5320" y="3555534"/>
            <a:ext cx="6979802" cy="194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🧭  Maintain Consistent Navigation</a:t>
            </a:r>
          </a:p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Standardize the navigation structure across all OWASP project pages to reduce confusion, improve discoverability, and create a seamless browsing experience for first-time visitors.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95320" y="5958563"/>
            <a:ext cx="6979802" cy="194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👤  Introduce Role-Based Entry Points</a:t>
            </a:r>
          </a:p>
          <a:p>
            <a:pPr algn="just" marL="0" indent="0" lvl="0">
              <a:lnSpc>
                <a:spcPts val="3131"/>
              </a:lnSpc>
            </a:pPr>
            <a:r>
              <a:rPr lang="en-US" sz="250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 dedicated entry paths for Students, Developers, and Organizations on the homepage, allowing users to access relevant resources immediately based on their role and goals.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37898" y="1788371"/>
            <a:ext cx="9412204" cy="87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4"/>
              </a:lnSpc>
            </a:pPr>
            <a:r>
              <a:rPr lang="en-US" b="true" sz="5467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Design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0829" y="7072563"/>
            <a:ext cx="3135277" cy="3017704"/>
          </a:xfrm>
          <a:custGeom>
            <a:avLst/>
            <a:gdLst/>
            <a:ahLst/>
            <a:cxnLst/>
            <a:rect r="r" b="b" t="t" l="l"/>
            <a:pathLst>
              <a:path h="3017704" w="3135277">
                <a:moveTo>
                  <a:pt x="0" y="0"/>
                </a:moveTo>
                <a:lnTo>
                  <a:pt x="3135277" y="0"/>
                </a:lnTo>
                <a:lnTo>
                  <a:pt x="3135277" y="3017704"/>
                </a:lnTo>
                <a:lnTo>
                  <a:pt x="0" y="3017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927" y="295980"/>
            <a:ext cx="3428547" cy="3076399"/>
          </a:xfrm>
          <a:custGeom>
            <a:avLst/>
            <a:gdLst/>
            <a:ahLst/>
            <a:cxnLst/>
            <a:rect r="r" b="b" t="t" l="l"/>
            <a:pathLst>
              <a:path h="3076399" w="3428547">
                <a:moveTo>
                  <a:pt x="0" y="0"/>
                </a:moveTo>
                <a:lnTo>
                  <a:pt x="3428547" y="0"/>
                </a:lnTo>
                <a:lnTo>
                  <a:pt x="3428547" y="3076400"/>
                </a:lnTo>
                <a:lnTo>
                  <a:pt x="0" y="3076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8624" y="8248671"/>
            <a:ext cx="1897898" cy="1355642"/>
          </a:xfrm>
          <a:custGeom>
            <a:avLst/>
            <a:gdLst/>
            <a:ahLst/>
            <a:cxnLst/>
            <a:rect r="r" b="b" t="t" l="l"/>
            <a:pathLst>
              <a:path h="1355642" w="1897898">
                <a:moveTo>
                  <a:pt x="0" y="0"/>
                </a:moveTo>
                <a:lnTo>
                  <a:pt x="1897898" y="0"/>
                </a:lnTo>
                <a:lnTo>
                  <a:pt x="1897898" y="1355642"/>
                </a:lnTo>
                <a:lnTo>
                  <a:pt x="0" y="1355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2552135" y="-4041032"/>
            <a:ext cx="6408326" cy="6015816"/>
          </a:xfrm>
          <a:custGeom>
            <a:avLst/>
            <a:gdLst/>
            <a:ahLst/>
            <a:cxnLst/>
            <a:rect r="r" b="b" t="t" l="l"/>
            <a:pathLst>
              <a:path h="6015816" w="6408326">
                <a:moveTo>
                  <a:pt x="0" y="0"/>
                </a:moveTo>
                <a:lnTo>
                  <a:pt x="6408326" y="0"/>
                </a:lnTo>
                <a:lnTo>
                  <a:pt x="6408326" y="6015816"/>
                </a:lnTo>
                <a:lnTo>
                  <a:pt x="0" y="6015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851283" y="8223776"/>
            <a:ext cx="6209286" cy="6265226"/>
          </a:xfrm>
          <a:custGeom>
            <a:avLst/>
            <a:gdLst/>
            <a:ahLst/>
            <a:cxnLst/>
            <a:rect r="r" b="b" t="t" l="l"/>
            <a:pathLst>
              <a:path h="6265226" w="6209286">
                <a:moveTo>
                  <a:pt x="0" y="0"/>
                </a:moveTo>
                <a:lnTo>
                  <a:pt x="6209286" y="0"/>
                </a:lnTo>
                <a:lnTo>
                  <a:pt x="6209286" y="6265226"/>
                </a:lnTo>
                <a:lnTo>
                  <a:pt x="0" y="62652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84111" y="877299"/>
            <a:ext cx="3537417" cy="585908"/>
            <a:chOff x="0" y="0"/>
            <a:chExt cx="931665" cy="1543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16513" y="877299"/>
            <a:ext cx="3537417" cy="585908"/>
            <a:chOff x="0" y="0"/>
            <a:chExt cx="931665" cy="154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1665" cy="154313"/>
            </a:xfrm>
            <a:custGeom>
              <a:avLst/>
              <a:gdLst/>
              <a:ahLst/>
              <a:cxnLst/>
              <a:rect r="r" b="b" t="t" l="l"/>
              <a:pathLst>
                <a:path h="154313" w="931665">
                  <a:moveTo>
                    <a:pt x="77157" y="0"/>
                  </a:moveTo>
                  <a:lnTo>
                    <a:pt x="854509" y="0"/>
                  </a:lnTo>
                  <a:cubicBezTo>
                    <a:pt x="874972" y="0"/>
                    <a:pt x="894597" y="8129"/>
                    <a:pt x="909067" y="22599"/>
                  </a:cubicBezTo>
                  <a:cubicBezTo>
                    <a:pt x="923536" y="37068"/>
                    <a:pt x="931665" y="56693"/>
                    <a:pt x="931665" y="77157"/>
                  </a:cubicBezTo>
                  <a:lnTo>
                    <a:pt x="931665" y="77157"/>
                  </a:lnTo>
                  <a:cubicBezTo>
                    <a:pt x="931665" y="97620"/>
                    <a:pt x="923536" y="117245"/>
                    <a:pt x="909067" y="131715"/>
                  </a:cubicBezTo>
                  <a:cubicBezTo>
                    <a:pt x="894597" y="146184"/>
                    <a:pt x="874972" y="154313"/>
                    <a:pt x="854509" y="154313"/>
                  </a:cubicBezTo>
                  <a:lnTo>
                    <a:pt x="77157" y="154313"/>
                  </a:lnTo>
                  <a:cubicBezTo>
                    <a:pt x="56693" y="154313"/>
                    <a:pt x="37068" y="146184"/>
                    <a:pt x="22599" y="131715"/>
                  </a:cubicBezTo>
                  <a:cubicBezTo>
                    <a:pt x="8129" y="117245"/>
                    <a:pt x="0" y="97620"/>
                    <a:pt x="0" y="77157"/>
                  </a:cubicBezTo>
                  <a:lnTo>
                    <a:pt x="0" y="77157"/>
                  </a:lnTo>
                  <a:cubicBezTo>
                    <a:pt x="0" y="56693"/>
                    <a:pt x="8129" y="37068"/>
                    <a:pt x="22599" y="22599"/>
                  </a:cubicBezTo>
                  <a:cubicBezTo>
                    <a:pt x="37068" y="8129"/>
                    <a:pt x="56693" y="0"/>
                    <a:pt x="77157" y="0"/>
                  </a:cubicBezTo>
                  <a:close/>
                </a:path>
              </a:pathLst>
            </a:custGeom>
            <a:solidFill>
              <a:srgbClr val="F3F6FA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31665" cy="163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14720" y="1009650"/>
            <a:ext cx="3790498" cy="33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1"/>
              </a:lnSpc>
            </a:pPr>
            <a:r>
              <a:rPr lang="en-US" b="true" sz="1865" spc="-27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OWASP Foundation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89972" y="1009650"/>
            <a:ext cx="3790498" cy="33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1"/>
              </a:lnSpc>
            </a:pPr>
            <a:r>
              <a:rPr lang="en-US" b="true" sz="1865" spc="-27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UX Research &amp; Interface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55621" y="2971704"/>
            <a:ext cx="14706165" cy="128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05"/>
              </a:lnSpc>
            </a:pPr>
            <a:r>
              <a:rPr lang="en-US" sz="272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OWASP is a globally trusted nonprofit delivering credible, high-quality cybersecurity resources — from the OWASP Top 10 to Cheat Sheets and developer documentation — that remain essential for students, engineers, and organizations worldwide.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55621" y="4632401"/>
            <a:ext cx="14706165" cy="128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05"/>
              </a:lnSpc>
            </a:pPr>
            <a:r>
              <a:rPr lang="en-US" sz="272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First-time users face significant usability challenges: critical learning resources are buried beneath promotional content, navigation is inconsistent across project pages, the search function lacks visibility, and there is no role-based entry point to guide different audience types.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621" y="6293097"/>
            <a:ext cx="14706165" cy="128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05"/>
              </a:lnSpc>
            </a:pPr>
            <a:r>
              <a:rPr lang="en-US" sz="2724" spc="10">
                <a:solidFill>
                  <a:srgbClr val="0B132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Addressing these UX gaps — through improved information hierarchy, prominent search, consistent navigation, and role-based pathways — will dramatically enhance resource accessibility, reduce friction, and empower users to fully benefit from OWASP's valuable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37898" y="1769321"/>
            <a:ext cx="9412204" cy="12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43"/>
              </a:lnSpc>
            </a:pPr>
            <a:r>
              <a:rPr lang="en-US" b="true" sz="7794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5E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826474" y="-6442665"/>
            <a:ext cx="11389696" cy="9534886"/>
          </a:xfrm>
          <a:custGeom>
            <a:avLst/>
            <a:gdLst/>
            <a:ahLst/>
            <a:cxnLst/>
            <a:rect r="r" b="b" t="t" l="l"/>
            <a:pathLst>
              <a:path h="9534886" w="11389696">
                <a:moveTo>
                  <a:pt x="0" y="0"/>
                </a:moveTo>
                <a:lnTo>
                  <a:pt x="11389696" y="0"/>
                </a:lnTo>
                <a:lnTo>
                  <a:pt x="11389696" y="9534886"/>
                </a:lnTo>
                <a:lnTo>
                  <a:pt x="0" y="9534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93613" y="7627003"/>
            <a:ext cx="2627729" cy="2491938"/>
          </a:xfrm>
          <a:custGeom>
            <a:avLst/>
            <a:gdLst/>
            <a:ahLst/>
            <a:cxnLst/>
            <a:rect r="r" b="b" t="t" l="l"/>
            <a:pathLst>
              <a:path h="2491938" w="2627729">
                <a:moveTo>
                  <a:pt x="0" y="0"/>
                </a:moveTo>
                <a:lnTo>
                  <a:pt x="2627728" y="0"/>
                </a:lnTo>
                <a:lnTo>
                  <a:pt x="2627728" y="2491939"/>
                </a:lnTo>
                <a:lnTo>
                  <a:pt x="0" y="249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68260" y="662095"/>
            <a:ext cx="3565503" cy="2348775"/>
          </a:xfrm>
          <a:custGeom>
            <a:avLst/>
            <a:gdLst/>
            <a:ahLst/>
            <a:cxnLst/>
            <a:rect r="r" b="b" t="t" l="l"/>
            <a:pathLst>
              <a:path h="2348775" w="3565503">
                <a:moveTo>
                  <a:pt x="0" y="0"/>
                </a:moveTo>
                <a:lnTo>
                  <a:pt x="3565503" y="0"/>
                </a:lnTo>
                <a:lnTo>
                  <a:pt x="3565503" y="2348775"/>
                </a:lnTo>
                <a:lnTo>
                  <a:pt x="0" y="2348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86350" y="3034211"/>
            <a:ext cx="8115300" cy="302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58"/>
              </a:lnSpc>
            </a:pPr>
            <a:r>
              <a:rPr lang="en-US" b="true" sz="10795">
                <a:solidFill>
                  <a:srgbClr val="0B1320"/>
                </a:solidFill>
                <a:latin typeface="Waffle Soft"/>
                <a:ea typeface="Waffle Soft"/>
                <a:cs typeface="Waffle Soft"/>
                <a:sym typeface="Waffle Soft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599008" y="6442398"/>
            <a:ext cx="7174074" cy="1093059"/>
            <a:chOff x="0" y="0"/>
            <a:chExt cx="1889468" cy="2878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9468" cy="287884"/>
            </a:xfrm>
            <a:custGeom>
              <a:avLst/>
              <a:gdLst/>
              <a:ahLst/>
              <a:cxnLst/>
              <a:rect r="r" b="b" t="t" l="l"/>
              <a:pathLst>
                <a:path h="287884" w="1889468">
                  <a:moveTo>
                    <a:pt x="54632" y="0"/>
                  </a:moveTo>
                  <a:lnTo>
                    <a:pt x="1834836" y="0"/>
                  </a:lnTo>
                  <a:cubicBezTo>
                    <a:pt x="1849325" y="0"/>
                    <a:pt x="1863221" y="5756"/>
                    <a:pt x="1873467" y="16001"/>
                  </a:cubicBezTo>
                  <a:cubicBezTo>
                    <a:pt x="1883712" y="26247"/>
                    <a:pt x="1889468" y="40143"/>
                    <a:pt x="1889468" y="54632"/>
                  </a:cubicBezTo>
                  <a:lnTo>
                    <a:pt x="1889468" y="233252"/>
                  </a:lnTo>
                  <a:cubicBezTo>
                    <a:pt x="1889468" y="247741"/>
                    <a:pt x="1883712" y="261637"/>
                    <a:pt x="1873467" y="271882"/>
                  </a:cubicBezTo>
                  <a:cubicBezTo>
                    <a:pt x="1863221" y="282128"/>
                    <a:pt x="1849325" y="287884"/>
                    <a:pt x="1834836" y="287884"/>
                  </a:cubicBezTo>
                  <a:lnTo>
                    <a:pt x="54632" y="287884"/>
                  </a:lnTo>
                  <a:cubicBezTo>
                    <a:pt x="40143" y="287884"/>
                    <a:pt x="26247" y="282128"/>
                    <a:pt x="16001" y="271882"/>
                  </a:cubicBezTo>
                  <a:cubicBezTo>
                    <a:pt x="5756" y="261637"/>
                    <a:pt x="0" y="247741"/>
                    <a:pt x="0" y="233252"/>
                  </a:cubicBezTo>
                  <a:lnTo>
                    <a:pt x="0" y="54632"/>
                  </a:lnTo>
                  <a:cubicBezTo>
                    <a:pt x="0" y="40143"/>
                    <a:pt x="5756" y="26247"/>
                    <a:pt x="16001" y="16001"/>
                  </a:cubicBezTo>
                  <a:cubicBezTo>
                    <a:pt x="26247" y="5756"/>
                    <a:pt x="40143" y="0"/>
                    <a:pt x="54632" y="0"/>
                  </a:cubicBezTo>
                  <a:close/>
                </a:path>
              </a:pathLst>
            </a:custGeom>
            <a:solidFill>
              <a:srgbClr val="D5E8F8"/>
            </a:solidFill>
            <a:ln w="38100" cap="rnd">
              <a:solidFill>
                <a:srgbClr val="0B132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889468" cy="29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70209" y="6548562"/>
            <a:ext cx="6747582" cy="42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8"/>
              </a:lnSpc>
              <a:spcBef>
                <a:spcPct val="0"/>
              </a:spcBef>
            </a:pPr>
            <a:r>
              <a:rPr lang="en-US" b="true" sz="2284" spc="-34">
                <a:solidFill>
                  <a:srgbClr val="0B13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User Persona for the OWASP Foundation Website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-6477366" y="2207676"/>
            <a:ext cx="8058179" cy="9452409"/>
          </a:xfrm>
          <a:custGeom>
            <a:avLst/>
            <a:gdLst/>
            <a:ahLst/>
            <a:cxnLst/>
            <a:rect r="r" b="b" t="t" l="l"/>
            <a:pathLst>
              <a:path h="9452409" w="8058179">
                <a:moveTo>
                  <a:pt x="0" y="0"/>
                </a:moveTo>
                <a:lnTo>
                  <a:pt x="8058179" y="0"/>
                </a:lnTo>
                <a:lnTo>
                  <a:pt x="8058179" y="9452409"/>
                </a:lnTo>
                <a:lnTo>
                  <a:pt x="0" y="9452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8929658" y="6074093"/>
            <a:ext cx="505484" cy="4168937"/>
          </a:xfrm>
          <a:custGeom>
            <a:avLst/>
            <a:gdLst/>
            <a:ahLst/>
            <a:cxnLst/>
            <a:rect r="r" b="b" t="t" l="l"/>
            <a:pathLst>
              <a:path h="4168937" w="505484">
                <a:moveTo>
                  <a:pt x="0" y="0"/>
                </a:moveTo>
                <a:lnTo>
                  <a:pt x="505484" y="0"/>
                </a:lnTo>
                <a:lnTo>
                  <a:pt x="505484" y="4168937"/>
                </a:lnTo>
                <a:lnTo>
                  <a:pt x="0" y="4168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18460" y="911297"/>
            <a:ext cx="657416" cy="759395"/>
          </a:xfrm>
          <a:custGeom>
            <a:avLst/>
            <a:gdLst/>
            <a:ahLst/>
            <a:cxnLst/>
            <a:rect r="r" b="b" t="t" l="l"/>
            <a:pathLst>
              <a:path h="759395" w="657416">
                <a:moveTo>
                  <a:pt x="0" y="0"/>
                </a:moveTo>
                <a:lnTo>
                  <a:pt x="657416" y="0"/>
                </a:lnTo>
                <a:lnTo>
                  <a:pt x="657416" y="759395"/>
                </a:lnTo>
                <a:lnTo>
                  <a:pt x="0" y="759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DAHRhtTYSJQ</dc:identifier>
  <dcterms:modified xsi:type="dcterms:W3CDTF">2011-08-01T06:04:30Z</dcterms:modified>
  <cp:revision>1</cp:revision>
  <dc:title>User Persona for OWASP Foundation Website: UX Research &amp; Interface Analysis</dc:title>
</cp:coreProperties>
</file>