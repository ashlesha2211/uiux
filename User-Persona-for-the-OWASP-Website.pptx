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Barlow Black"/>
      <p:regular r:id="rId201316"/>
    </p:embeddedFont>
    <p:embeddedFont>
      <p:font typeface="Spline Sans Bold"/>
      <p:regular r:id="rId201317"/>
    </p:embeddedFont>
    <p:embeddedFont>
      <p:font typeface="Spline Sans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69023" y="1545654"/>
            <a:ext cx="1765548" cy="234479"/>
          </a:xfrm>
          <a:prstGeom prst="roundRect">
            <a:avLst>
              <a:gd name="adj" fmla="val 50000"/>
            </a:avLst>
          </a:prstGeom>
          <a:solidFill>
            <a:srgbClr val="004D36"/>
          </a:solidFill>
          <a:ln/>
        </p:spPr>
      </p:sp>
      <p:sp>
        <p:nvSpPr>
          <p:cNvPr id="4" name="Text 1"/>
          <p:cNvSpPr/>
          <p:nvPr/>
        </p:nvSpPr>
        <p:spPr>
          <a:xfrm>
            <a:off x="4061594" y="1591940"/>
            <a:ext cx="2037606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UX RESEARCH DELIVERABLE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969023" y="1841822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User Persona for the OWASP Website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3969023" y="2930500"/>
            <a:ext cx="4634954" cy="66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50"/>
              </a:spcAft>
              <a:buNone/>
            </a:pPr>
            <a:r>
              <a:rPr lang="en-US" sz="12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Based on UX Research and Critical Interface Analysis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Student: Ashlesha Gawkar · University: MIT WPU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33685"/>
            <a:ext cx="547613" cy="135434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16FF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3527" y="460400"/>
            <a:ext cx="897806" cy="82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BACKGROUND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540023" y="589731"/>
            <a:ext cx="8063954" cy="247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About OWASP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972815"/>
            <a:ext cx="5165378" cy="29270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27750" y="2211139"/>
            <a:ext cx="2680915" cy="450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</a:t>
            </a:r>
            <a:pPr algn="l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Open Web Application Security Project (OWASP)</a:t>
            </a:r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is a nonprofit foundation dedicated to improving software security. Its website serves as a global hub for open-source security resources, documentation, and community collaboration.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40023" y="4015755"/>
            <a:ext cx="1977256" cy="321246"/>
          </a:xfrm>
          <a:prstGeom prst="roundRect">
            <a:avLst>
              <a:gd name="adj" fmla="val 41654"/>
            </a:avLst>
          </a:prstGeom>
          <a:solidFill>
            <a:srgbClr val="0A081B"/>
          </a:solidFill>
          <a:ln w="9525">
            <a:solidFill>
              <a:srgbClr val="16FF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8696" y="4114428"/>
            <a:ext cx="1779910" cy="123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🎓</a:t>
            </a:r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Students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568848" y="4015755"/>
            <a:ext cx="1977330" cy="321246"/>
          </a:xfrm>
          <a:prstGeom prst="roundRect">
            <a:avLst>
              <a:gd name="adj" fmla="val 41654"/>
            </a:avLst>
          </a:prstGeom>
          <a:solidFill>
            <a:srgbClr val="0A081B"/>
          </a:solidFill>
          <a:ln w="9525">
            <a:solidFill>
              <a:srgbClr val="29D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67521" y="4114428"/>
            <a:ext cx="1779984" cy="123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💻</a:t>
            </a:r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Developers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597747" y="4015755"/>
            <a:ext cx="1977330" cy="321246"/>
          </a:xfrm>
          <a:prstGeom prst="roundRect">
            <a:avLst>
              <a:gd name="adj" fmla="val 41654"/>
            </a:avLst>
          </a:prstGeom>
          <a:solidFill>
            <a:srgbClr val="0A081B"/>
          </a:solidFill>
          <a:ln w="9525">
            <a:solidFill>
              <a:srgbClr val="37A7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96420" y="4114428"/>
            <a:ext cx="1779984" cy="123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Security Engineers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626647" y="4015755"/>
            <a:ext cx="1977330" cy="321246"/>
          </a:xfrm>
          <a:prstGeom prst="roundRect">
            <a:avLst>
              <a:gd name="adj" fmla="val 41654"/>
            </a:avLst>
          </a:prstGeom>
          <a:solidFill>
            <a:srgbClr val="0A081B"/>
          </a:solidFill>
          <a:ln w="9525">
            <a:solidFill>
              <a:srgbClr val="09123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25320" y="4114428"/>
            <a:ext cx="1779984" cy="123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🔬</a:t>
            </a:r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Researchers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0023" y="4388569"/>
            <a:ext cx="8063954" cy="321246"/>
          </a:xfrm>
          <a:prstGeom prst="roundRect">
            <a:avLst>
              <a:gd name="adj" fmla="val 41654"/>
            </a:avLst>
          </a:prstGeom>
          <a:solidFill>
            <a:srgbClr val="0A081B"/>
          </a:solidFill>
          <a:ln w="9525">
            <a:solidFill>
              <a:srgbClr val="16FFB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696" y="4487242"/>
            <a:ext cx="7866608" cy="123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🏢</a:t>
            </a:r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Organizations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71115"/>
            <a:ext cx="1208410" cy="230758"/>
          </a:xfrm>
          <a:prstGeom prst="roundRect">
            <a:avLst>
              <a:gd name="adj" fmla="val 50000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631106" y="516657"/>
            <a:ext cx="1483444" cy="13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PRIMARY PERSONA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761628"/>
            <a:ext cx="8063954" cy="42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Meet Aarav Sharma</a:t>
            </a:r>
            <a:endParaRPr lang="en-US" sz="2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2236961"/>
            <a:ext cx="2834506" cy="160615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9873" y="1575941"/>
            <a:ext cx="2354610" cy="29281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97003" y="1746870"/>
            <a:ext cx="1936552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Demographics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997003" y="2107332"/>
            <a:ext cx="1936552" cy="2225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Age: 21 · Location: Pune, India</a:t>
            </a:r>
            <a:endParaRPr lang="en-US" sz="1150" dirty="0"/>
          </a:p>
          <a:p>
            <a:pPr algn="l" indent="0" marL="0">
              <a:lnSpc>
                <a:spcPct val="132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Occupation: Final Year B.Tech CSE Student</a:t>
            </a:r>
            <a:endParaRPr lang="en-US" sz="1150" dirty="0"/>
          </a:p>
          <a:p>
            <a:pPr algn="l" indent="0" marL="0">
              <a:lnSpc>
                <a:spcPct val="132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 Level: Intermediate</a:t>
            </a:r>
            <a:endParaRPr lang="en-US" sz="1150" dirty="0"/>
          </a:p>
          <a:p>
            <a:pPr algn="l" indent="0" marL="0">
              <a:lnSpc>
                <a:spcPct val="132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Devices: Laptop + Mobile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Usage Frequency: Weekly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3981" y="1575941"/>
            <a:ext cx="2354684" cy="29281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1110" y="1746870"/>
            <a:ext cx="1936626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Context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501110" y="2107332"/>
            <a:ext cx="1936626" cy="1687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Aarav is preparing for a cybersecurity internship and regularly consults OWASP for assignments and secure coding practice. He values efficiency and clear information architecture.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24309"/>
            <a:ext cx="606103" cy="117202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16FF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6308" y="447452"/>
            <a:ext cx="970731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PERSONA PROFILE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540023" y="556915"/>
            <a:ext cx="80639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Goals &amp; Motivations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872430"/>
            <a:ext cx="3937918" cy="39379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70822" y="2329160"/>
            <a:ext cx="393791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Drives Aarav</a:t>
            </a:r>
            <a:endParaRPr lang="en-US" sz="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695" y="2482081"/>
            <a:ext cx="115714" cy="1157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21448" y="2479700"/>
            <a:ext cx="36872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Career Growth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4921448" y="2625403"/>
            <a:ext cx="3687291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Targeting security roles post-graduation</a:t>
            </a:r>
            <a:endParaRPr lang="en-US" sz="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695" y="2797448"/>
            <a:ext cx="115714" cy="1157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21448" y="2795067"/>
            <a:ext cx="36872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Academic Success</a:t>
            </a:r>
            <a:endParaRPr lang="en-US" sz="650" dirty="0"/>
          </a:p>
        </p:txBody>
      </p:sp>
      <p:sp>
        <p:nvSpPr>
          <p:cNvPr id="12" name="Text 7"/>
          <p:cNvSpPr/>
          <p:nvPr/>
        </p:nvSpPr>
        <p:spPr>
          <a:xfrm>
            <a:off x="4921448" y="2940769"/>
            <a:ext cx="3687291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Strong grades in cybersecurity modules</a:t>
            </a:r>
            <a:endParaRPr lang="en-US" sz="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695" y="3112815"/>
            <a:ext cx="115714" cy="1157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21448" y="3110433"/>
            <a:ext cx="36872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Industry Certifications</a:t>
            </a:r>
            <a:endParaRPr lang="en-US" sz="650" dirty="0"/>
          </a:p>
        </p:txBody>
      </p:sp>
      <p:sp>
        <p:nvSpPr>
          <p:cNvPr id="15" name="Text 9"/>
          <p:cNvSpPr/>
          <p:nvPr/>
        </p:nvSpPr>
        <p:spPr>
          <a:xfrm>
            <a:off x="4921448" y="3256136"/>
            <a:ext cx="3687291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Building credentials for the job market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69023" y="471636"/>
            <a:ext cx="740271" cy="197793"/>
          </a:xfrm>
          <a:prstGeom prst="roundRect">
            <a:avLst>
              <a:gd name="adj" fmla="val 50000"/>
            </a:avLst>
          </a:prstGeom>
          <a:solidFill>
            <a:srgbClr val="004D36"/>
          </a:solidFill>
          <a:ln/>
        </p:spPr>
      </p:sp>
      <p:sp>
        <p:nvSpPr>
          <p:cNvPr id="4" name="Text 1"/>
          <p:cNvSpPr/>
          <p:nvPr/>
        </p:nvSpPr>
        <p:spPr>
          <a:xfrm>
            <a:off x="4047083" y="510629"/>
            <a:ext cx="1041350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PAIN POINTS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969023" y="713333"/>
            <a:ext cx="4634954" cy="361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Frustrations &amp; Barriers</a:t>
            </a:r>
            <a:endParaRPr lang="en-US" sz="2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9023" y="1239738"/>
            <a:ext cx="4634954" cy="9196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70611" y="1384176"/>
            <a:ext cx="428892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Hidden Documentation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170611" y="1630859"/>
            <a:ext cx="4288929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Core resources are buried beneath promotional event content on the homepage.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9023" y="2269257"/>
            <a:ext cx="4634954" cy="7276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70611" y="2413695"/>
            <a:ext cx="428892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Poor Search Discoverability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170611" y="2660377"/>
            <a:ext cx="4288929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search function is difficult to locate, slowing task completion.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9023" y="3106713"/>
            <a:ext cx="4634954" cy="72762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70611" y="3251150"/>
            <a:ext cx="428892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Inconsistent Navigation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170611" y="3497833"/>
            <a:ext cx="4288929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Menu structures vary across project pages, causing disorientation.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69023" y="3944169"/>
            <a:ext cx="4634954" cy="72762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170611" y="4088606"/>
            <a:ext cx="428892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Accessibility Gaps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4170611" y="4335289"/>
            <a:ext cx="4288929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Limited options for contrast, text resizing, and keyboard navigation.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64641"/>
            <a:ext cx="975196" cy="219819"/>
          </a:xfrm>
          <a:prstGeom prst="roundRect">
            <a:avLst>
              <a:gd name="adj" fmla="val 50000"/>
            </a:avLst>
          </a:prstGeom>
          <a:noFill/>
          <a:ln w="14288">
            <a:solidFill>
              <a:srgbClr val="16FF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6790" y="508025"/>
            <a:ext cx="1258863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 JOURNEY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0023" y="738708"/>
            <a:ext cx="8063954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Aarav's Journey on OWASP.org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0023" y="2657996"/>
            <a:ext cx="8063954" cy="19050"/>
          </a:xfrm>
          <a:prstGeom prst="roundRect">
            <a:avLst>
              <a:gd name="adj" fmla="val 50000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21929" y="2224013"/>
            <a:ext cx="19050" cy="433983"/>
          </a:xfrm>
          <a:prstGeom prst="roundRect">
            <a:avLst>
              <a:gd name="adj" fmla="val 50000"/>
            </a:avLst>
          </a:prstGeom>
          <a:solidFill>
            <a:srgbClr val="16FFBB"/>
          </a:solidFill>
          <a:ln/>
        </p:spPr>
      </p:sp>
      <p:sp>
        <p:nvSpPr>
          <p:cNvPr id="7" name="Shape 5"/>
          <p:cNvSpPr/>
          <p:nvPr/>
        </p:nvSpPr>
        <p:spPr>
          <a:xfrm>
            <a:off x="1468710" y="2495252"/>
            <a:ext cx="325487" cy="325487"/>
          </a:xfrm>
          <a:prstGeom prst="ellipse">
            <a:avLst/>
          </a:prstGeom>
          <a:solidFill>
            <a:srgbClr val="0A081B"/>
          </a:solidFill>
          <a:ln w="14288">
            <a:solidFill>
              <a:srgbClr val="16FF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5013" y="2537445"/>
            <a:ext cx="1928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4684" y="1343918"/>
            <a:ext cx="189354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Discover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4684" y="1630933"/>
            <a:ext cx="1893540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Finds OWASP via search. </a:t>
            </a:r>
            <a:pPr algn="ctr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Emotion:</a:t>
            </a:r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Hopeful.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98118" y="2657996"/>
            <a:ext cx="19050" cy="433983"/>
          </a:xfrm>
          <a:prstGeom prst="roundRect">
            <a:avLst>
              <a:gd name="adj" fmla="val 50000"/>
            </a:avLst>
          </a:prstGeom>
          <a:solidFill>
            <a:srgbClr val="29DDDA"/>
          </a:solidFill>
          <a:ln/>
        </p:spPr>
      </p:sp>
      <p:sp>
        <p:nvSpPr>
          <p:cNvPr id="12" name="Shape 10"/>
          <p:cNvSpPr/>
          <p:nvPr/>
        </p:nvSpPr>
        <p:spPr>
          <a:xfrm>
            <a:off x="2644899" y="2495252"/>
            <a:ext cx="325487" cy="325487"/>
          </a:xfrm>
          <a:prstGeom prst="ellipse">
            <a:avLst/>
          </a:prstGeom>
          <a:solidFill>
            <a:srgbClr val="0A081B"/>
          </a:solidFill>
          <a:ln w="14288">
            <a:solidFill>
              <a:srgbClr val="29DD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1202" y="2537445"/>
            <a:ext cx="1928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60872" y="3236640"/>
            <a:ext cx="189354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Search Top 10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860872" y="3523655"/>
            <a:ext cx="1893540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Looks for OWASP Top 10. </a:t>
            </a:r>
            <a:pPr algn="ctr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Emotion:</a:t>
            </a:r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Focused.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74306" y="2224013"/>
            <a:ext cx="19050" cy="433983"/>
          </a:xfrm>
          <a:prstGeom prst="roundRect">
            <a:avLst>
              <a:gd name="adj" fmla="val 50000"/>
            </a:avLst>
          </a:prstGeom>
          <a:solidFill>
            <a:srgbClr val="37A7E7"/>
          </a:solidFill>
          <a:ln/>
        </p:spPr>
      </p:sp>
      <p:sp>
        <p:nvSpPr>
          <p:cNvPr id="17" name="Shape 15"/>
          <p:cNvSpPr/>
          <p:nvPr/>
        </p:nvSpPr>
        <p:spPr>
          <a:xfrm>
            <a:off x="3821088" y="2495252"/>
            <a:ext cx="325487" cy="325487"/>
          </a:xfrm>
          <a:prstGeom prst="ellipse">
            <a:avLst/>
          </a:prstGeom>
          <a:solidFill>
            <a:srgbClr val="0A081B"/>
          </a:solidFill>
          <a:ln w="14288">
            <a:solidFill>
              <a:srgbClr val="37A7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7391" y="2537445"/>
            <a:ext cx="1928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37061" y="1343918"/>
            <a:ext cx="189361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Browse Homepage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037061" y="1630933"/>
            <a:ext cx="1893615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Encounters events, not docs. </a:t>
            </a:r>
            <a:pPr algn="ctr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Emotion:</a:t>
            </a:r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Confused.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50495" y="2657996"/>
            <a:ext cx="19050" cy="433983"/>
          </a:xfrm>
          <a:prstGeom prst="roundRect">
            <a:avLst>
              <a:gd name="adj" fmla="val 50000"/>
            </a:avLst>
          </a:prstGeom>
          <a:solidFill>
            <a:srgbClr val="091231"/>
          </a:solidFill>
          <a:ln/>
        </p:spPr>
      </p:sp>
      <p:sp>
        <p:nvSpPr>
          <p:cNvPr id="22" name="Shape 20"/>
          <p:cNvSpPr/>
          <p:nvPr/>
        </p:nvSpPr>
        <p:spPr>
          <a:xfrm>
            <a:off x="4997276" y="2495252"/>
            <a:ext cx="325487" cy="325487"/>
          </a:xfrm>
          <a:prstGeom prst="ellipse">
            <a:avLst/>
          </a:prstGeom>
          <a:solidFill>
            <a:srgbClr val="0A081B"/>
          </a:solidFill>
          <a:ln w="14288">
            <a:solidFill>
              <a:srgbClr val="0912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63579" y="2537445"/>
            <a:ext cx="1928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13250" y="3236640"/>
            <a:ext cx="189361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😕</a:t>
            </a:r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Experience Confusion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213250" y="3523655"/>
            <a:ext cx="1893615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Struggles to locate resources. </a:t>
            </a:r>
            <a:pPr algn="ctr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Emotion:</a:t>
            </a:r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Frustrated.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26758" y="2224013"/>
            <a:ext cx="19050" cy="433983"/>
          </a:xfrm>
          <a:prstGeom prst="roundRect">
            <a:avLst>
              <a:gd name="adj" fmla="val 50000"/>
            </a:avLst>
          </a:prstGeom>
          <a:solidFill>
            <a:srgbClr val="16FFBB"/>
          </a:solidFill>
          <a:ln/>
        </p:spPr>
      </p:sp>
      <p:sp>
        <p:nvSpPr>
          <p:cNvPr id="27" name="Shape 25"/>
          <p:cNvSpPr/>
          <p:nvPr/>
        </p:nvSpPr>
        <p:spPr>
          <a:xfrm>
            <a:off x="6173539" y="2495252"/>
            <a:ext cx="325487" cy="325487"/>
          </a:xfrm>
          <a:prstGeom prst="ellipse">
            <a:avLst/>
          </a:prstGeom>
          <a:solidFill>
            <a:srgbClr val="0A081B"/>
          </a:solidFill>
          <a:ln w="14288">
            <a:solidFill>
              <a:srgbClr val="16FF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9842" y="2537445"/>
            <a:ext cx="1928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89513" y="1343918"/>
            <a:ext cx="189354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📄</a:t>
            </a:r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Find Documentation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389513" y="1630933"/>
            <a:ext cx="1893540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Eventually locates Top 10. </a:t>
            </a:r>
            <a:pPr algn="ctr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Emotion:</a:t>
            </a:r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Relieved.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02947" y="2657996"/>
            <a:ext cx="19050" cy="433983"/>
          </a:xfrm>
          <a:prstGeom prst="roundRect">
            <a:avLst>
              <a:gd name="adj" fmla="val 50000"/>
            </a:avLst>
          </a:prstGeom>
          <a:solidFill>
            <a:srgbClr val="29DDDA"/>
          </a:solidFill>
          <a:ln/>
        </p:spPr>
      </p:sp>
      <p:sp>
        <p:nvSpPr>
          <p:cNvPr id="32" name="Shape 30"/>
          <p:cNvSpPr/>
          <p:nvPr/>
        </p:nvSpPr>
        <p:spPr>
          <a:xfrm>
            <a:off x="7349728" y="2495252"/>
            <a:ext cx="325487" cy="325487"/>
          </a:xfrm>
          <a:prstGeom prst="ellipse">
            <a:avLst/>
          </a:prstGeom>
          <a:solidFill>
            <a:srgbClr val="0A081B"/>
          </a:solidFill>
          <a:ln w="14288">
            <a:solidFill>
              <a:srgbClr val="29DD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16031" y="2537445"/>
            <a:ext cx="1928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565702" y="3236640"/>
            <a:ext cx="189361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🎓</a:t>
            </a:r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Learn Concepts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65702" y="3523655"/>
            <a:ext cx="1893615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Studies security material. </a:t>
            </a:r>
            <a:pPr algn="ctr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Emotion:</a:t>
            </a:r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Satisfied.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0023" y="4124623"/>
            <a:ext cx="8063954" cy="554162"/>
          </a:xfrm>
          <a:prstGeom prst="roundRect">
            <a:avLst>
              <a:gd name="adj" fmla="val 39157"/>
            </a:avLst>
          </a:prstGeom>
          <a:solidFill>
            <a:srgbClr val="00805A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684" y="4331271"/>
            <a:ext cx="180826" cy="144661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010171" y="4296370"/>
            <a:ext cx="7906345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Opportunity: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Surface core documentation above promotional content to reduce friction.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54447"/>
            <a:ext cx="905694" cy="190500"/>
          </a:xfrm>
          <a:prstGeom prst="roundRect">
            <a:avLst>
              <a:gd name="adj" fmla="val 50000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615181" y="492026"/>
            <a:ext cx="1212577" cy="115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PERSONA DEPTH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0023" y="685651"/>
            <a:ext cx="8063954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Behavior, Quote &amp; Scenario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40023" y="1288479"/>
            <a:ext cx="387905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Personality Traits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0023" y="1577206"/>
            <a:ext cx="1888629" cy="931218"/>
          </a:xfrm>
          <a:prstGeom prst="roundRect">
            <a:avLst>
              <a:gd name="adj" fmla="val 20195"/>
            </a:avLst>
          </a:prstGeom>
          <a:solidFill>
            <a:srgbClr val="0A081B"/>
          </a:solidFill>
          <a:ln w="14288">
            <a:solidFill>
              <a:srgbClr val="16FF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9624" y="1716807"/>
            <a:ext cx="376089" cy="376089"/>
          </a:xfrm>
          <a:prstGeom prst="ellipse">
            <a:avLst/>
          </a:prstGeom>
          <a:solidFill>
            <a:srgbClr val="16FFB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3059" y="1820168"/>
            <a:ext cx="169218" cy="1692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9624" y="2194694"/>
            <a:ext cx="160942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Curious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30450" y="1577206"/>
            <a:ext cx="1888629" cy="931218"/>
          </a:xfrm>
          <a:prstGeom prst="roundRect">
            <a:avLst>
              <a:gd name="adj" fmla="val 20195"/>
            </a:avLst>
          </a:prstGeom>
          <a:solidFill>
            <a:srgbClr val="0A081B"/>
          </a:solidFill>
          <a:ln w="14288">
            <a:solidFill>
              <a:srgbClr val="29DD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70051" y="1716807"/>
            <a:ext cx="376089" cy="376089"/>
          </a:xfrm>
          <a:prstGeom prst="ellipse">
            <a:avLst/>
          </a:prstGeom>
          <a:solidFill>
            <a:srgbClr val="29DDD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3487" y="1820168"/>
            <a:ext cx="169218" cy="1692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70051" y="2194694"/>
            <a:ext cx="160942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Self-Learning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0023" y="2610222"/>
            <a:ext cx="1888629" cy="931218"/>
          </a:xfrm>
          <a:prstGeom prst="roundRect">
            <a:avLst>
              <a:gd name="adj" fmla="val 20195"/>
            </a:avLst>
          </a:prstGeom>
          <a:solidFill>
            <a:srgbClr val="0A081B"/>
          </a:solidFill>
          <a:ln w="14288">
            <a:solidFill>
              <a:srgbClr val="37A7E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79624" y="2749823"/>
            <a:ext cx="376089" cy="376089"/>
          </a:xfrm>
          <a:prstGeom prst="ellipse">
            <a:avLst/>
          </a:prstGeom>
          <a:solidFill>
            <a:srgbClr val="37A7E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3059" y="2853184"/>
            <a:ext cx="169218" cy="1692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9624" y="3227710"/>
            <a:ext cx="160942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Analytical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530450" y="2610222"/>
            <a:ext cx="1888629" cy="931218"/>
          </a:xfrm>
          <a:prstGeom prst="roundRect">
            <a:avLst>
              <a:gd name="adj" fmla="val 20195"/>
            </a:avLst>
          </a:prstGeom>
          <a:solidFill>
            <a:srgbClr val="0A081B"/>
          </a:solidFill>
          <a:ln w="14288">
            <a:solidFill>
              <a:srgbClr val="09123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670051" y="2749823"/>
            <a:ext cx="376089" cy="376089"/>
          </a:xfrm>
          <a:prstGeom prst="ellipse">
            <a:avLst/>
          </a:prstGeom>
          <a:solidFill>
            <a:srgbClr val="09123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73487" y="2853184"/>
            <a:ext cx="169218" cy="1692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670051" y="3227710"/>
            <a:ext cx="160942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Goal-Oriented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40023" y="3643238"/>
            <a:ext cx="3879056" cy="931218"/>
          </a:xfrm>
          <a:prstGeom prst="roundRect">
            <a:avLst>
              <a:gd name="adj" fmla="val 20195"/>
            </a:avLst>
          </a:prstGeom>
          <a:solidFill>
            <a:srgbClr val="0A081B"/>
          </a:solidFill>
          <a:ln w="14288">
            <a:solidFill>
              <a:srgbClr val="16FFB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79624" y="3782839"/>
            <a:ext cx="376089" cy="376089"/>
          </a:xfrm>
          <a:prstGeom prst="ellipse">
            <a:avLst/>
          </a:prstGeom>
          <a:solidFill>
            <a:srgbClr val="16FFBB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3059" y="3886200"/>
            <a:ext cx="169218" cy="16921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9624" y="4260726"/>
            <a:ext cx="359985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Tech-Savvy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4729683" y="1288479"/>
            <a:ext cx="387905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 His Own Words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4917728" y="1668884"/>
            <a:ext cx="3691012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"I just want quick access to OWASP documentation without spending time searching through event pages."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729683" y="1577206"/>
            <a:ext cx="14288" cy="546943"/>
          </a:xfrm>
          <a:prstGeom prst="roundRect">
            <a:avLst>
              <a:gd name="adj" fmla="val 49998"/>
            </a:avLst>
          </a:prstGeom>
          <a:solidFill>
            <a:srgbClr val="16FFBB"/>
          </a:solidFill>
          <a:ln/>
        </p:spPr>
      </p:sp>
      <p:sp>
        <p:nvSpPr>
          <p:cNvPr id="29" name="Text 22"/>
          <p:cNvSpPr/>
          <p:nvPr/>
        </p:nvSpPr>
        <p:spPr>
          <a:xfrm>
            <a:off x="4729683" y="2238747"/>
            <a:ext cx="387905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Real-World Scenario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4729683" y="2514674"/>
            <a:ext cx="3879056" cy="727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Aarav visits OWASP to study for a cybersecurity assignment. Promotional content dominates the homepage, and he struggles to quickly locate the OWASP Top 10 — a critical resource he needs within minutes.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502444"/>
            <a:ext cx="1344290" cy="234479"/>
          </a:xfrm>
          <a:prstGeom prst="roundRect">
            <a:avLst>
              <a:gd name="adj" fmla="val 50000"/>
            </a:avLst>
          </a:prstGeom>
          <a:noFill/>
          <a:ln w="14288">
            <a:solidFill>
              <a:srgbClr val="16FF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2594" y="548729"/>
            <a:ext cx="161634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HEURISTIC ANALYSIS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798612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UX Insights: Strengths vs. Weaknesses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28923" y="1458664"/>
            <a:ext cx="4065984" cy="3182392"/>
          </a:xfrm>
          <a:prstGeom prst="roundRect">
            <a:avLst>
              <a:gd name="adj" fmla="val 11637"/>
            </a:avLst>
          </a:prstGeom>
          <a:solidFill>
            <a:srgbClr val="091231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83183" y="1612925"/>
            <a:ext cx="375746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Strengths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4133" y="1986483"/>
            <a:ext cx="1801341" cy="11147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5543" y="2005533"/>
            <a:ext cx="15899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Highly Credible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5543" y="2374106"/>
            <a:ext cx="1589931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Trusted globally in cybersecurity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9305" y="1986483"/>
            <a:ext cx="1801341" cy="11147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50716" y="2005533"/>
            <a:ext cx="15899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Rich Documentation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750716" y="2588419"/>
            <a:ext cx="1589931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Extensive, high-quality technical resources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133" y="3371776"/>
            <a:ext cx="3776514" cy="65357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5543" y="3390826"/>
            <a:ext cx="3565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Strong Community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75543" y="3759398"/>
            <a:ext cx="356510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Active global network of contributors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764956" y="1612925"/>
            <a:ext cx="384378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Weaknesses</a:t>
            </a:r>
            <a:endParaRPr lang="en-US" sz="13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5906" y="1986483"/>
            <a:ext cx="1844501" cy="111479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57316" y="2005533"/>
            <a:ext cx="163309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Poor Visual Hierarchy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957316" y="2588419"/>
            <a:ext cx="1633091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Promotional content obscures key resources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4238" y="1986483"/>
            <a:ext cx="1844501" cy="111479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75649" y="2005533"/>
            <a:ext cx="163309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Weak Discoverability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975649" y="2588419"/>
            <a:ext cx="1633091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Search and navigation are hard to find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5906" y="3371776"/>
            <a:ext cx="1844501" cy="111479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957316" y="3390826"/>
            <a:ext cx="163309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Inconsistent Navigation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4957316" y="3973711"/>
            <a:ext cx="1633091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Menu structures vary across pages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64238" y="3371776"/>
            <a:ext cx="1844501" cy="1114797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975649" y="3390826"/>
            <a:ext cx="163309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Limited Personalization</a:t>
            </a:r>
            <a:endParaRPr lang="en-US" sz="1350" dirty="0"/>
          </a:p>
        </p:txBody>
      </p:sp>
      <p:sp>
        <p:nvSpPr>
          <p:cNvPr id="28" name="Text 19"/>
          <p:cNvSpPr/>
          <p:nvPr/>
        </p:nvSpPr>
        <p:spPr>
          <a:xfrm>
            <a:off x="6975649" y="3973711"/>
            <a:ext cx="1633091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role-based entry points for users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838721"/>
            <a:ext cx="1294358" cy="234479"/>
          </a:xfrm>
          <a:prstGeom prst="roundRect">
            <a:avLst>
              <a:gd name="adj" fmla="val 50000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632594" y="885006"/>
            <a:ext cx="1566416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RECOMMENDATIONS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1134889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Design Recommendations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023" y="1794942"/>
            <a:ext cx="308595" cy="3085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1499" y="1847924"/>
            <a:ext cx="20579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Prioritize Core Resources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41499" y="2154808"/>
            <a:ext cx="2057921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Move OWASP Top 10 and Cheat Sheets above promotional content on the homepage.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2301" y="1794942"/>
            <a:ext cx="308595" cy="3085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93778" y="1847924"/>
            <a:ext cx="20579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Visible Search Bar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793778" y="2154808"/>
            <a:ext cx="2057921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 a persistent, prominent search function across all pages.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4580" y="1794942"/>
            <a:ext cx="308595" cy="3085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46056" y="1847924"/>
            <a:ext cx="20579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Consistent Navigation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546056" y="2154808"/>
            <a:ext cx="2057921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Standardize menu structures across all OWASP project pages.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0023" y="3204121"/>
            <a:ext cx="308595" cy="30859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41499" y="3257104"/>
            <a:ext cx="20579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Improve Accessibility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041499" y="3563987"/>
            <a:ext cx="2057921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Introduce contrast toggle, text resizing, and keyboard navigation support.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92301" y="3204121"/>
            <a:ext cx="308595" cy="30859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793778" y="3257104"/>
            <a:ext cx="20579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Role-Based Entry Points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3793778" y="3563987"/>
            <a:ext cx="2057921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 tailored landing paths for Students, Developers, and Organizations.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509736"/>
            <a:ext cx="553938" cy="142875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16FF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6429" y="537939"/>
            <a:ext cx="898327" cy="8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CONCLUSION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540023" y="675531"/>
            <a:ext cx="8063954" cy="26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Takeaways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087115"/>
            <a:ext cx="5161285" cy="29246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35414" y="1949128"/>
            <a:ext cx="2673251" cy="484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persona analysis reveals that while OWASP provides </a:t>
            </a:r>
            <a:pPr algn="l" indent="0" marL="0">
              <a:lnSpc>
                <a:spcPct val="107000"/>
              </a:lnSpc>
              <a:buNone/>
            </a:pPr>
            <a:r>
              <a:rPr 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exceptional cybersecurity resources</a:t>
            </a:r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first-time users — particularly students like Aarav — encounter significant usability friction.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76429" y="2549426"/>
            <a:ext cx="2532236" cy="36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Addressing these areas would significantly enhance the learning experience for OWASP's next generation of security professionals.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935414" y="2497857"/>
            <a:ext cx="9525" cy="466353"/>
          </a:xfrm>
          <a:prstGeom prst="roundRect">
            <a:avLst>
              <a:gd name="adj" fmla="val 50000"/>
            </a:avLst>
          </a:prstGeom>
          <a:solidFill>
            <a:srgbClr val="16FFBB"/>
          </a:solidFill>
          <a:ln/>
        </p:spPr>
      </p:sp>
      <p:sp>
        <p:nvSpPr>
          <p:cNvPr id="9" name="Text 6"/>
          <p:cNvSpPr/>
          <p:nvPr/>
        </p:nvSpPr>
        <p:spPr>
          <a:xfrm>
            <a:off x="5935414" y="3028652"/>
            <a:ext cx="3130451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00" b="1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Thank You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540023" y="4140696"/>
            <a:ext cx="2649736" cy="493068"/>
          </a:xfrm>
          <a:prstGeom prst="roundRect">
            <a:avLst>
              <a:gd name="adj" fmla="val 28605"/>
            </a:avLst>
          </a:prstGeom>
          <a:solidFill>
            <a:srgbClr val="0A081B">
              <a:alpha val="75000"/>
            </a:srgbClr>
          </a:solidFill>
          <a:ln w="9525">
            <a:solidFill>
              <a:srgbClr val="16FF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3533" y="4244206"/>
            <a:ext cx="2442716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Information Hierarchy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3533" y="4409182"/>
            <a:ext cx="2442716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Core docs must be surfaced above promotional content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3247058" y="4140696"/>
            <a:ext cx="2649810" cy="493068"/>
          </a:xfrm>
          <a:prstGeom prst="roundRect">
            <a:avLst>
              <a:gd name="adj" fmla="val 28605"/>
            </a:avLst>
          </a:prstGeom>
          <a:solidFill>
            <a:srgbClr val="0A081B">
              <a:alpha val="75000"/>
            </a:srgbClr>
          </a:solidFill>
          <a:ln w="9525">
            <a:solidFill>
              <a:srgbClr val="29DD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50568" y="4244206"/>
            <a:ext cx="2442790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Navigation Consistency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50568" y="4409182"/>
            <a:ext cx="2442790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Unified menus reduce cognitive load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5954167" y="4140696"/>
            <a:ext cx="2649810" cy="493068"/>
          </a:xfrm>
          <a:prstGeom prst="roundRect">
            <a:avLst>
              <a:gd name="adj" fmla="val 28605"/>
            </a:avLst>
          </a:prstGeom>
          <a:solidFill>
            <a:srgbClr val="0A081B">
              <a:alpha val="75000"/>
            </a:srgbClr>
          </a:solidFill>
          <a:ln w="9525">
            <a:solidFill>
              <a:srgbClr val="37A7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7677" y="4244206"/>
            <a:ext cx="2442790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Discoverability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057677" y="4409182"/>
            <a:ext cx="2442790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Search and role-based paths improve first-time experience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2026-08-06T13:57:06Z</dcterms:created>
  <dcterms:modified xsi:type="dcterms:W3CDTF">2026-08-06T13:57:06Z</dcterms:modified>
</cp:coreProperties>
</file>